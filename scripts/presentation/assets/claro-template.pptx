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8" r:id="rId2"/>
    <p:sldId id="269" r:id="rId3"/>
    <p:sldId id="2147480171" r:id="rId4"/>
    <p:sldId id="2147480170" r:id="rId5"/>
    <p:sldId id="2147480172" r:id="rId6"/>
    <p:sldId id="2147480163" r:id="rId7"/>
    <p:sldId id="2147480173" r:id="rId8"/>
    <p:sldId id="2147480174" r:id="rId9"/>
    <p:sldId id="2147480175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9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27B05D-A850-42F3-9378-39ACF9D0FA53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2FF948-4A8B-4285-8AB8-9C2DF2286F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1042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Abrir explicando o porquê do tema: apresentar projeto é contar história. Dados informam, narrativa convence. Os 5 passos são o esqueleto da apresentação.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Fechar o bloco apresentando o checklist</a:t>
            </a:r>
            <a:r>
              <a:t>: </a:t>
            </a:r>
            <a:r>
              <a:rPr lang="pt-BR"/>
              <a:t>estes são os elementos esperados </a:t>
            </a:r>
            <a:r>
              <a:t>em </a:t>
            </a:r>
            <a:r>
              <a:rPr lang="pt-BR"/>
              <a:t>qualquer apresentação </a:t>
            </a:r>
            <a:r>
              <a:t>de </a:t>
            </a:r>
            <a:r>
              <a:rPr lang="pt-BR"/>
              <a:t>projeto. O próximo slide mostra todos eles reunidos em uma página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05B848-FD4D-488D-BC49-274AF73030F7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0703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Fechar com a regra de tempo: 10 minutos, ~8 slides, 1 a 1,5 min por slide. O detalhamento vai para anexos e o tempo restante é para discussão.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Fechar liberando o formato: o roteiro é proposta. Mostrar as três rotas e reforçar que o critério é a conexão lógica com o público, não a ordem em 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Fechamento do roteiro: três passos práticos e canal de apoio.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55C96E-A9A3-025C-E3D0-DC75A8567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2FA35F-3B22-0C18-AB79-1A3428FB7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6CD7B4-9C29-DA71-D45D-BFE841FC9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B64E-48D3-432A-99FB-41629AEA96A5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48F425-10B8-DBA3-0AA2-E0759D276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C76158-4A8E-21D2-B35A-AADAA3FA9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448A7-6B8D-476F-BDF2-237DF339A7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6153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7E2F3-9C22-6E8F-165C-4346F39D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FAA1AC-D226-3C23-B22C-191878A96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4FEA4F-D123-31A2-DB9C-F7C0AC000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B64E-48D3-432A-99FB-41629AEA96A5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52BC21-B7B4-BE70-D93C-D8AEC81DF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2B4EDE-410F-2007-BCE3-47DD48767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448A7-6B8D-476F-BDF2-237DF339A7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0030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72958F-7287-3B43-6651-96F792B2A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5A74A04-9104-EFB9-1BB2-003398FEB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471369-9F08-7E58-8F64-D7F67D021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B64E-48D3-432A-99FB-41629AEA96A5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FD2A4F-F2CB-42AE-3913-127A42D47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6A9F96-13F3-CB94-6EDB-3686A28C3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448A7-6B8D-476F-BDF2-237DF339A7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035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92C416-B529-CA66-2A36-E09BD13B1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DBDF6F-5C0C-0D38-BB17-2B9FC09CF2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3B8F088-5710-C60C-1A74-53434801B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A6A8B9-2D5F-B077-23A9-88550144F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B64E-48D3-432A-99FB-41629AEA96A5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EBC4E0-5AE7-4E4B-A620-9333CD658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6BCBD9C-D687-CCA4-BAE0-8C136A5E9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448A7-6B8D-476F-BDF2-237DF339A7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0423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A39ED3-A61F-4F08-B88C-DC2D662A3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F10F19-3BE3-DAB2-E591-6BADE1E6C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46B2A86-F9E1-192D-7540-3420D976B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9942E04-6A08-2F07-07B9-EDF3F56483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B926808-BFE2-6CBA-AB25-F09DFC5E9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EB5F917-1A75-B934-4271-CBF5CBBB2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B64E-48D3-432A-99FB-41629AEA96A5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AEAFFC8-3294-7D3D-7898-883132C72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E1D9096-C3DA-E606-9D90-9790FE1AC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448A7-6B8D-476F-BDF2-237DF339A7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5851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F3B5C7-78BC-358B-295D-7BC1F8761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C9CC3C2-AD7A-41EF-E6A9-33A02C1E7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B64E-48D3-432A-99FB-41629AEA96A5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0CA2969-8F4D-B3F2-3616-C567E32A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2C2D148-B505-F909-74B1-E0E1E4D7A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448A7-6B8D-476F-BDF2-237DF339A7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4517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86D5ADC-5E84-F0A0-4029-B16AA1687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B64E-48D3-432A-99FB-41629AEA96A5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618F3DD-6528-D71E-EDF8-AEF92F8BB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743E169-BC37-4BBB-2DCC-8C225C6D4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448A7-6B8D-476F-BDF2-237DF339A7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377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18D5E-AC70-FCB5-117E-6E967CD03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CA0792-9589-7678-4C6B-3FD94B82F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70D9341-60F4-B1E9-15A1-12B4EB814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A9AF44-F0CA-C37C-65EC-53F29D31E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B64E-48D3-432A-99FB-41629AEA96A5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2B5E78-CCEA-A3AE-95DF-4B6271B3A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6F8133E-21AA-D1C5-55A5-C66EC049A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448A7-6B8D-476F-BDF2-237DF339A7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9719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1D36D3-D7D6-5B44-E89F-EB78C4095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60BA708-7357-B7B1-0D76-9D769B2737F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55BD662-B092-B8A1-C9D1-36DA1F45D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B9DBF2-11BB-226A-9C7E-72377C2AB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B64E-48D3-432A-99FB-41629AEA96A5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480F10-778E-E080-BF71-551D0E9E4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CBD4E0-32BA-0173-A4B4-CBE334CC6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448A7-6B8D-476F-BDF2-237DF339A7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6012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074E30-51C8-095A-BA7A-05A0F620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F02A5B4-9B9F-6E7C-27A6-CA487B72FC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D801FF-3B3E-BD68-5439-B117D2532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B64E-48D3-432A-99FB-41629AEA96A5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6E3390-8E57-1646-2A0D-6B25C40C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6E0C74-BA03-DE23-1918-2B04BC700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448A7-6B8D-476F-BDF2-237DF339A7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9626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BBEDD0D-9D0D-859E-0FF5-E99F583061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00E80CA-BEFA-52E0-1E0C-E212AB732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498116-3DB9-DF20-A8A1-CFD18F94B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B64E-48D3-432A-99FB-41629AEA96A5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D94881-59CA-47CA-98D0-1321AB557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03D374-C26E-81D9-3804-3ABBF2BD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448A7-6B8D-476F-BDF2-237DF339A7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5806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6425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C0C4467-CAF1-0B70-5958-DB4C1FCD5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9FD4286-9BAA-7D71-1FD0-1E7F95A6A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0B4BB8-C55D-91C6-590F-4D4F46AA2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70B64E-48D3-432A-99FB-41629AEA96A5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413D7F-0393-2C5D-3326-74F011281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B83B76-EAB7-E162-F5D3-690783388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A448A7-6B8D-476F-BDF2-237DF339A7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4493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6000">
              <a:srgbClr val="B8222E"/>
            </a:gs>
            <a:gs pos="100000">
              <a:srgbClr val="F67C1C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C1EC11-C763-BB8A-518D-52AEEDF14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Pessoas posando para foto&#10;&#10;O conteúdo gerado por IA pode estar incorreto.">
            <a:extLst>
              <a:ext uri="{FF2B5EF4-FFF2-40B4-BE49-F238E27FC236}">
                <a16:creationId xmlns:a16="http://schemas.microsoft.com/office/drawing/2014/main" id="{72F0D805-42E0-32B2-3AC1-E87B4B0F20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Elipse 9">
            <a:extLst>
              <a:ext uri="{FF2B5EF4-FFF2-40B4-BE49-F238E27FC236}">
                <a16:creationId xmlns:a16="http://schemas.microsoft.com/office/drawing/2014/main" id="{C0303280-DE61-4F88-F704-CF7E1CC80D25}"/>
              </a:ext>
            </a:extLst>
          </p:cNvPr>
          <p:cNvSpPr/>
          <p:nvPr/>
        </p:nvSpPr>
        <p:spPr>
          <a:xfrm>
            <a:off x="6096000" y="1284471"/>
            <a:ext cx="1078523" cy="1078523"/>
          </a:xfrm>
          <a:prstGeom prst="ellipse">
            <a:avLst/>
          </a:prstGeom>
          <a:gradFill>
            <a:gsLst>
              <a:gs pos="36000">
                <a:srgbClr val="B8222E"/>
              </a:gs>
              <a:gs pos="100000">
                <a:srgbClr val="F67C1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DEBBD908-B9F6-5101-21B8-9C28E1F203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4274" y="1525963"/>
            <a:ext cx="561975" cy="544212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CE792ED-0F7C-8CDE-F2AB-69896FA871C7}"/>
              </a:ext>
            </a:extLst>
          </p:cNvPr>
          <p:cNvSpPr txBox="1"/>
          <p:nvPr/>
        </p:nvSpPr>
        <p:spPr>
          <a:xfrm>
            <a:off x="354623" y="627009"/>
            <a:ext cx="6622193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4400" b="1" dirty="0">
                <a:solidFill>
                  <a:srgbClr val="E8E8E8">
                    <a:lumMod val="90000"/>
                  </a:srgbClr>
                </a:solidFill>
                <a:latin typeface="Arial Nova"/>
                <a:ea typeface="+mn-lt"/>
                <a:cs typeface="+mn-lt"/>
              </a:rPr>
              <a:t>GRNO Empresarial</a:t>
            </a:r>
            <a:endParaRPr kumimoji="0" lang="pt-BR" sz="2800" b="1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90000"/>
                </a:srgbClr>
              </a:solidFill>
              <a:effectLst/>
              <a:uLnTx/>
              <a:uFillTx/>
              <a:latin typeface="Arial Nova"/>
              <a:ea typeface="+mn-lt"/>
              <a:cs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4400" b="1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90000"/>
                </a:srgbClr>
              </a:solidFill>
              <a:effectLst/>
              <a:uLnTx/>
              <a:uFillTx/>
              <a:latin typeface="Arial Nova"/>
              <a:ea typeface="+mn-lt"/>
              <a:cs typeface="+mn-lt"/>
            </a:endParaRPr>
          </a:p>
        </p:txBody>
      </p:sp>
      <p:sp>
        <p:nvSpPr>
          <p:cNvPr id="3" name="Fluxograma: Terminação 2">
            <a:extLst>
              <a:ext uri="{FF2B5EF4-FFF2-40B4-BE49-F238E27FC236}">
                <a16:creationId xmlns:a16="http://schemas.microsoft.com/office/drawing/2014/main" id="{80FAF309-4411-181F-C0FE-673D0C25F212}"/>
              </a:ext>
            </a:extLst>
          </p:cNvPr>
          <p:cNvSpPr/>
          <p:nvPr/>
        </p:nvSpPr>
        <p:spPr>
          <a:xfrm>
            <a:off x="354622" y="5381833"/>
            <a:ext cx="2490177" cy="691661"/>
          </a:xfrm>
          <a:prstGeom prst="flowChartTerminator">
            <a:avLst/>
          </a:prstGeom>
          <a:solidFill>
            <a:sysClr val="window" lastClr="FFFFFF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4C3178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Out/2026</a:t>
            </a:r>
          </a:p>
        </p:txBody>
      </p:sp>
      <p:pic>
        <p:nvPicPr>
          <p:cNvPr id="12" name="Logo Clar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9636" y="5822376"/>
            <a:ext cx="945102" cy="85285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4048" y="3429000"/>
            <a:ext cx="60350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00" dirty="0">
                <a:solidFill>
                  <a:srgbClr val="FFFFFF"/>
                </a:solidFill>
                <a:latin typeface="Aptos"/>
              </a:rPr>
              <a:t>Monitoramento SIR, PME e SDH</a:t>
            </a:r>
            <a:endParaRPr sz="1700" dirty="0">
              <a:solidFill>
                <a:srgbClr val="FFFFF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288028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658368"/>
            <a:ext cx="10058400" cy="464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3840"/>
              </a:lnSpc>
              <a:spcBef>
                <a:spcPct val="0"/>
              </a:spcBef>
            </a:pPr>
            <a:r>
              <a:rPr lang="pt-BR" sz="2800" b="1" noProof="0" dirty="0" err="1">
                <a:solidFill>
                  <a:srgbClr val="0E2841"/>
                </a:solidFill>
                <a:latin typeface="Aptos Display"/>
                <a:ea typeface="Abril Fatface"/>
                <a:cs typeface="Abril Fatface"/>
                <a:sym typeface="Abril Fatface"/>
              </a:rPr>
              <a:t>Storytelling</a:t>
            </a:r>
            <a:r>
              <a:rPr lang="pt-BR" sz="2800" b="1" noProof="0" dirty="0">
                <a:solidFill>
                  <a:srgbClr val="0E2841"/>
                </a:solidFill>
                <a:latin typeface="Aptos Display"/>
                <a:ea typeface="Abril Fatface"/>
                <a:cs typeface="Abril Fatface"/>
                <a:sym typeface="Abril Fatface"/>
              </a:rPr>
              <a:t>: como contar uma boa história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1188720"/>
            <a:ext cx="10058400" cy="248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053"/>
              </a:lnSpc>
              <a:spcBef>
                <a:spcPct val="0"/>
              </a:spcBef>
            </a:pPr>
            <a:r>
              <a:rPr lang="pt-BR" sz="1300" b="0" i="0" noProof="0">
                <a:solidFill>
                  <a:srgbClr val="475569"/>
                </a:solidFill>
                <a:latin typeface="Aptos"/>
                <a:ea typeface="Trocchi"/>
                <a:cs typeface="Trocchi"/>
                <a:sym typeface="Trocchi"/>
              </a:rPr>
              <a:t>Uma boa apresentação segue a lógica de uma narrativa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63524" y="3235187"/>
            <a:ext cx="1981200" cy="1782487"/>
            <a:chOff x="0" y="-38100"/>
            <a:chExt cx="3962400" cy="2324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62400" cy="2286000"/>
            </a:xfrm>
            <a:custGeom>
              <a:avLst/>
              <a:gdLst/>
              <a:ahLst/>
              <a:cxnLst/>
              <a:rect l="l" t="t" r="r" b="b"/>
              <a:pathLst>
                <a:path w="3962400" h="2286000">
                  <a:moveTo>
                    <a:pt x="228600" y="0"/>
                  </a:moveTo>
                  <a:lnTo>
                    <a:pt x="3733800" y="0"/>
                  </a:lnTo>
                  <a:cubicBezTo>
                    <a:pt x="3860052" y="0"/>
                    <a:pt x="3962400" y="102348"/>
                    <a:pt x="3962400" y="228600"/>
                  </a:cubicBezTo>
                  <a:lnTo>
                    <a:pt x="3962400" y="2057400"/>
                  </a:lnTo>
                  <a:cubicBezTo>
                    <a:pt x="3962400" y="2183652"/>
                    <a:pt x="3860052" y="2286000"/>
                    <a:pt x="37338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pPr defTabSz="609630"/>
              <a:endParaRPr lang="pt-BR" sz="1200" noProof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962400" cy="23241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defTabSz="609630">
                <a:lnSpc>
                  <a:spcPts val="1119"/>
                </a:lnSpc>
              </a:pPr>
              <a:endParaRPr lang="pt-BR" sz="1200" noProof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90524" y="3837782"/>
            <a:ext cx="254000" cy="359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987"/>
              </a:lnSpc>
              <a:spcBef>
                <a:spcPct val="0"/>
              </a:spcBef>
            </a:pPr>
            <a:r>
              <a:rPr lang="pt-BR" sz="2133" noProof="0" dirty="0">
                <a:solidFill>
                  <a:srgbClr val="3B82F6"/>
                </a:solidFill>
                <a:latin typeface="Abril Fatface"/>
                <a:ea typeface="Abril Fatface"/>
                <a:cs typeface="Abril Fatface"/>
                <a:sym typeface="Abril Fatface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90524" y="4148932"/>
            <a:ext cx="1727200" cy="19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560"/>
              </a:lnSpc>
              <a:spcBef>
                <a:spcPct val="0"/>
              </a:spcBef>
            </a:pPr>
            <a:r>
              <a:rPr lang="pt-BR" sz="1200" b="1">
                <a:solidFill>
                  <a:srgbClr val="0E2841"/>
                </a:solidFill>
                <a:latin typeface="Aptos Display"/>
                <a:ea typeface="Trocchi"/>
                <a:cs typeface="Trocchi"/>
                <a:sym typeface="Trocchi"/>
              </a:rPr>
              <a:t>Contexto</a:t>
            </a:r>
            <a:endParaRPr lang="pt-BR" sz="1400" noProof="0" dirty="0">
              <a:solidFill>
                <a:srgbClr val="1E293B"/>
              </a:solidFill>
              <a:latin typeface="Trocchi"/>
              <a:ea typeface="Trocchi"/>
              <a:cs typeface="Trocchi"/>
              <a:sym typeface="Trocchi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90524" y="4420702"/>
            <a:ext cx="1727200" cy="530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400"/>
              </a:lnSpc>
              <a:spcBef>
                <a:spcPct val="0"/>
              </a:spcBef>
            </a:pPr>
            <a:r>
              <a:rPr lang="pt-BR" sz="1100" noProof="0" dirty="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Quem é você, o que faz e de qual atividade estamos falando.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935224" y="3235187"/>
            <a:ext cx="1981200" cy="1782487"/>
            <a:chOff x="0" y="-38100"/>
            <a:chExt cx="3962400" cy="2324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962400" cy="2286000"/>
            </a:xfrm>
            <a:custGeom>
              <a:avLst/>
              <a:gdLst/>
              <a:ahLst/>
              <a:cxnLst/>
              <a:rect l="l" t="t" r="r" b="b"/>
              <a:pathLst>
                <a:path w="3962400" h="2286000">
                  <a:moveTo>
                    <a:pt x="228600" y="0"/>
                  </a:moveTo>
                  <a:lnTo>
                    <a:pt x="3733800" y="0"/>
                  </a:lnTo>
                  <a:cubicBezTo>
                    <a:pt x="3860052" y="0"/>
                    <a:pt x="3962400" y="102348"/>
                    <a:pt x="3962400" y="228600"/>
                  </a:cubicBezTo>
                  <a:lnTo>
                    <a:pt x="3962400" y="2057400"/>
                  </a:lnTo>
                  <a:cubicBezTo>
                    <a:pt x="3962400" y="2183652"/>
                    <a:pt x="3860052" y="2286000"/>
                    <a:pt x="37338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pPr defTabSz="609630"/>
              <a:endParaRPr lang="pt-BR" sz="1200" noProof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962400" cy="23241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defTabSz="609630">
                <a:lnSpc>
                  <a:spcPts val="1119"/>
                </a:lnSpc>
              </a:pPr>
              <a:endParaRPr lang="pt-BR" sz="1200" noProof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062224" y="3837782"/>
            <a:ext cx="254000" cy="359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987"/>
              </a:lnSpc>
              <a:spcBef>
                <a:spcPct val="0"/>
              </a:spcBef>
            </a:pPr>
            <a:r>
              <a:rPr lang="pt-BR" sz="2133" noProof="0" dirty="0">
                <a:solidFill>
                  <a:srgbClr val="3B82F6"/>
                </a:solidFill>
                <a:latin typeface="Abril Fatface"/>
                <a:ea typeface="Abril Fatface"/>
                <a:cs typeface="Abril Fatface"/>
                <a:sym typeface="Abril Fatface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62224" y="4148932"/>
            <a:ext cx="1727200" cy="196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560"/>
              </a:lnSpc>
              <a:spcBef>
                <a:spcPct val="0"/>
              </a:spcBef>
            </a:pPr>
            <a:r>
              <a:rPr lang="pt-BR" sz="1200" b="1" noProof="0">
                <a:solidFill>
                  <a:srgbClr val="0E2841"/>
                </a:solidFill>
                <a:latin typeface="Aptos Display"/>
                <a:ea typeface="Trocchi"/>
                <a:cs typeface="Trocchi"/>
                <a:sym typeface="Trocchi"/>
              </a:rPr>
              <a:t>Conflito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62224" y="4420702"/>
            <a:ext cx="1854200" cy="351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1400"/>
              </a:lnSpc>
              <a:spcBef>
                <a:spcPct val="0"/>
              </a:spcBef>
            </a:pPr>
            <a:r>
              <a:rPr lang="pt-BR" sz="1100" noProof="0" dirty="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Mostre a tensão: o problema </a:t>
            </a:r>
            <a:r>
              <a:rPr lang="pt-BR" sz="1100" noProof="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ou a dor </a:t>
            </a:r>
            <a:r>
              <a:rPr lang="pt-BR" sz="1100" noProof="0" dirty="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que precisa ser </a:t>
            </a:r>
            <a:r>
              <a:rPr lang="pt-BR" sz="1100" noProof="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resolvida</a:t>
            </a:r>
            <a:r>
              <a:rPr lang="pt-BR" sz="1100" noProof="0" dirty="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106924" y="3235187"/>
            <a:ext cx="1981200" cy="1782487"/>
            <a:chOff x="0" y="-38100"/>
            <a:chExt cx="3962400" cy="23241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962400" cy="2286000"/>
            </a:xfrm>
            <a:custGeom>
              <a:avLst/>
              <a:gdLst/>
              <a:ahLst/>
              <a:cxnLst/>
              <a:rect l="l" t="t" r="r" b="b"/>
              <a:pathLst>
                <a:path w="3962400" h="2286000">
                  <a:moveTo>
                    <a:pt x="228600" y="0"/>
                  </a:moveTo>
                  <a:lnTo>
                    <a:pt x="3733800" y="0"/>
                  </a:lnTo>
                  <a:cubicBezTo>
                    <a:pt x="3860052" y="0"/>
                    <a:pt x="3962400" y="102348"/>
                    <a:pt x="3962400" y="228600"/>
                  </a:cubicBezTo>
                  <a:lnTo>
                    <a:pt x="3962400" y="2057400"/>
                  </a:lnTo>
                  <a:cubicBezTo>
                    <a:pt x="3962400" y="2183652"/>
                    <a:pt x="3860052" y="2286000"/>
                    <a:pt x="37338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pPr defTabSz="609630"/>
              <a:endParaRPr lang="pt-BR" sz="1200" noProof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962400" cy="23241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defTabSz="609630">
                <a:lnSpc>
                  <a:spcPts val="1119"/>
                </a:lnSpc>
              </a:pPr>
              <a:endParaRPr lang="pt-BR" sz="1200" noProof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233924" y="3837782"/>
            <a:ext cx="254000" cy="359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987"/>
              </a:lnSpc>
              <a:spcBef>
                <a:spcPct val="0"/>
              </a:spcBef>
            </a:pPr>
            <a:r>
              <a:rPr lang="pt-BR" sz="2133" noProof="0" dirty="0">
                <a:solidFill>
                  <a:srgbClr val="3B82F6"/>
                </a:solidFill>
                <a:latin typeface="Abril Fatface"/>
                <a:ea typeface="Abril Fatface"/>
                <a:cs typeface="Abril Fatface"/>
                <a:sym typeface="Abril Fatface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33924" y="4148932"/>
            <a:ext cx="1727200" cy="196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560"/>
              </a:lnSpc>
              <a:spcBef>
                <a:spcPct val="0"/>
              </a:spcBef>
            </a:pPr>
            <a:r>
              <a:rPr lang="pt-BR" sz="1200" b="1" noProof="0">
                <a:solidFill>
                  <a:srgbClr val="0E2841"/>
                </a:solidFill>
                <a:latin typeface="Aptos Display"/>
                <a:ea typeface="Trocchi"/>
                <a:cs typeface="Trocchi"/>
                <a:sym typeface="Trocchi"/>
              </a:rPr>
              <a:t>Virada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33924" y="4420702"/>
            <a:ext cx="1727200" cy="530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400"/>
              </a:lnSpc>
              <a:spcBef>
                <a:spcPct val="0"/>
              </a:spcBef>
            </a:pPr>
            <a:r>
              <a:rPr lang="pt-BR" sz="1100" noProof="0" dirty="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Introduza sua solução como o ponto de mudança</a:t>
            </a:r>
            <a:r>
              <a:rPr lang="pt-BR" sz="1100" noProof="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 da história</a:t>
            </a:r>
            <a:r>
              <a:rPr lang="pt-BR" sz="1100" noProof="0" dirty="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278624" y="3235187"/>
            <a:ext cx="1981200" cy="1782487"/>
            <a:chOff x="0" y="-38100"/>
            <a:chExt cx="3962400" cy="23241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962400" cy="2286000"/>
            </a:xfrm>
            <a:custGeom>
              <a:avLst/>
              <a:gdLst/>
              <a:ahLst/>
              <a:cxnLst/>
              <a:rect l="l" t="t" r="r" b="b"/>
              <a:pathLst>
                <a:path w="3962400" h="2286000">
                  <a:moveTo>
                    <a:pt x="228600" y="0"/>
                  </a:moveTo>
                  <a:lnTo>
                    <a:pt x="3733800" y="0"/>
                  </a:lnTo>
                  <a:cubicBezTo>
                    <a:pt x="3860052" y="0"/>
                    <a:pt x="3962400" y="102348"/>
                    <a:pt x="3962400" y="228600"/>
                  </a:cubicBezTo>
                  <a:lnTo>
                    <a:pt x="3962400" y="2057400"/>
                  </a:lnTo>
                  <a:cubicBezTo>
                    <a:pt x="3962400" y="2183652"/>
                    <a:pt x="3860052" y="2286000"/>
                    <a:pt x="37338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pPr defTabSz="609630"/>
              <a:endParaRPr lang="pt-BR" sz="1200" noProof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3962400" cy="23241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defTabSz="609630">
                <a:lnSpc>
                  <a:spcPts val="1119"/>
                </a:lnSpc>
              </a:pPr>
              <a:endParaRPr lang="pt-BR" sz="1200" noProof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7405624" y="3837782"/>
            <a:ext cx="254000" cy="359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987"/>
              </a:lnSpc>
              <a:spcBef>
                <a:spcPct val="0"/>
              </a:spcBef>
            </a:pPr>
            <a:r>
              <a:rPr lang="pt-BR" sz="2133" noProof="0" dirty="0">
                <a:solidFill>
                  <a:srgbClr val="3B82F6"/>
                </a:solidFill>
                <a:latin typeface="Abril Fatface"/>
                <a:ea typeface="Abril Fatface"/>
                <a:cs typeface="Abril Fatface"/>
                <a:sym typeface="Abril Fatface"/>
              </a:rPr>
              <a:t>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05624" y="4148932"/>
            <a:ext cx="1727200" cy="196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560"/>
              </a:lnSpc>
              <a:spcBef>
                <a:spcPct val="0"/>
              </a:spcBef>
            </a:pPr>
            <a:r>
              <a:rPr lang="pt-BR" sz="1200" b="1" noProof="0">
                <a:solidFill>
                  <a:srgbClr val="0E2841"/>
                </a:solidFill>
                <a:latin typeface="Aptos Display"/>
                <a:ea typeface="Trocchi"/>
                <a:cs typeface="Trocchi"/>
                <a:sym typeface="Trocchi"/>
              </a:rPr>
              <a:t>Resolução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05624" y="4420702"/>
            <a:ext cx="1727200" cy="530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400"/>
              </a:lnSpc>
              <a:spcBef>
                <a:spcPct val="0"/>
              </a:spcBef>
            </a:pPr>
            <a:r>
              <a:rPr lang="pt-BR" sz="1100" noProof="0" dirty="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Mostre os resultados e </a:t>
            </a:r>
            <a:r>
              <a:rPr lang="pt-BR" sz="1100" noProof="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os </a:t>
            </a:r>
            <a:r>
              <a:rPr lang="pt-BR" sz="1100" noProof="0" dirty="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benefícios concretos</a:t>
            </a:r>
            <a:r>
              <a:rPr lang="pt-BR" sz="1100" noProof="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 da entrega</a:t>
            </a:r>
            <a:r>
              <a:rPr lang="pt-BR" sz="1100" noProof="0" dirty="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450324" y="3235187"/>
            <a:ext cx="1981200" cy="1782487"/>
            <a:chOff x="0" y="-38100"/>
            <a:chExt cx="3962400" cy="23241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962400" cy="2286000"/>
            </a:xfrm>
            <a:custGeom>
              <a:avLst/>
              <a:gdLst/>
              <a:ahLst/>
              <a:cxnLst/>
              <a:rect l="l" t="t" r="r" b="b"/>
              <a:pathLst>
                <a:path w="3962400" h="2286000">
                  <a:moveTo>
                    <a:pt x="228600" y="0"/>
                  </a:moveTo>
                  <a:lnTo>
                    <a:pt x="3733800" y="0"/>
                  </a:lnTo>
                  <a:cubicBezTo>
                    <a:pt x="3860052" y="0"/>
                    <a:pt x="3962400" y="102348"/>
                    <a:pt x="3962400" y="228600"/>
                  </a:cubicBezTo>
                  <a:lnTo>
                    <a:pt x="3962400" y="2057400"/>
                  </a:lnTo>
                  <a:cubicBezTo>
                    <a:pt x="3962400" y="2183652"/>
                    <a:pt x="3860052" y="2286000"/>
                    <a:pt x="37338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pPr defTabSz="609630"/>
              <a:endParaRPr lang="pt-BR" sz="1200" noProof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3962400" cy="23241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defTabSz="609630">
                <a:lnSpc>
                  <a:spcPts val="1119"/>
                </a:lnSpc>
              </a:pPr>
              <a:endParaRPr lang="pt-BR" sz="1200" noProof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577324" y="3837782"/>
            <a:ext cx="254000" cy="359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987"/>
              </a:lnSpc>
              <a:spcBef>
                <a:spcPct val="0"/>
              </a:spcBef>
            </a:pPr>
            <a:r>
              <a:rPr lang="pt-BR" sz="2133" noProof="0" dirty="0">
                <a:solidFill>
                  <a:srgbClr val="3B82F6"/>
                </a:solidFill>
                <a:latin typeface="Abril Fatface"/>
                <a:ea typeface="Abril Fatface"/>
                <a:cs typeface="Abril Fatface"/>
                <a:sym typeface="Abril Fatface"/>
              </a:rPr>
              <a:t>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77324" y="4148932"/>
            <a:ext cx="1727200" cy="196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560"/>
              </a:lnSpc>
              <a:spcBef>
                <a:spcPct val="0"/>
              </a:spcBef>
            </a:pPr>
            <a:r>
              <a:rPr lang="pt-BR" sz="1200" b="1" noProof="0">
                <a:solidFill>
                  <a:srgbClr val="0E2841"/>
                </a:solidFill>
                <a:latin typeface="Aptos Display"/>
                <a:ea typeface="Trocchi"/>
                <a:cs typeface="Trocchi"/>
                <a:sym typeface="Trocchi"/>
              </a:rPr>
              <a:t>Fechamento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577324" y="4420702"/>
            <a:ext cx="1727200" cy="530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400"/>
              </a:lnSpc>
              <a:spcBef>
                <a:spcPct val="0"/>
              </a:spcBef>
            </a:pPr>
            <a:r>
              <a:rPr lang="pt-BR" sz="1100" noProof="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Conclusão</a:t>
            </a:r>
            <a:r>
              <a:rPr lang="pt-BR" sz="1100" noProof="0" dirty="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, próximos passos e os pedidos </a:t>
            </a:r>
            <a:r>
              <a:rPr lang="pt-BR" sz="1100" noProof="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ao público </a:t>
            </a:r>
            <a:r>
              <a:rPr lang="pt-BR" sz="1100" noProof="0" dirty="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(se houver</a:t>
            </a:r>
            <a:r>
              <a:rPr lang="pt-BR" sz="1100" noProof="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).</a:t>
            </a:r>
            <a:endParaRPr lang="pt-BR" sz="1100" noProof="0" dirty="0">
              <a:solidFill>
                <a:srgbClr val="64748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34" name="Logo Cla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9636" y="5822376"/>
            <a:ext cx="945102" cy="85285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94360" y="1691640"/>
            <a:ext cx="10671048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900" b="1" noProof="0">
                <a:solidFill>
                  <a:srgbClr val="0E2841"/>
                </a:solidFill>
                <a:latin typeface="Aptos Display"/>
              </a:rPr>
              <a:t>Apresentar um projeto é contar uma história.</a:t>
            </a:r>
          </a:p>
          <a:p>
            <a:endParaRPr lang="pt-BR" sz="1400" b="1" dirty="0">
              <a:solidFill>
                <a:srgbClr val="1E293B"/>
              </a:solidFill>
              <a:latin typeface="Trocchi"/>
            </a:endParaRPr>
          </a:p>
          <a:p>
            <a:r>
              <a:rPr lang="pt-BR" sz="1400" noProof="0" dirty="0">
                <a:solidFill>
                  <a:srgbClr val="475569"/>
                </a:solidFill>
                <a:latin typeface="Arimo"/>
              </a:rPr>
              <a:t>Antes </a:t>
            </a:r>
            <a:r>
              <a:rPr lang="pt-BR" sz="1400" noProof="0">
                <a:solidFill>
                  <a:srgbClr val="475569"/>
                </a:solidFill>
                <a:latin typeface="Arimo"/>
              </a:rPr>
              <a:t>da </a:t>
            </a:r>
            <a:r>
              <a:rPr lang="pt-BR" sz="1400" noProof="0" dirty="0">
                <a:solidFill>
                  <a:srgbClr val="475569"/>
                </a:solidFill>
                <a:latin typeface="Arimo"/>
              </a:rPr>
              <a:t>solução</a:t>
            </a:r>
            <a:r>
              <a:rPr lang="pt-BR" sz="1400" noProof="0">
                <a:solidFill>
                  <a:srgbClr val="475569"/>
                </a:solidFill>
                <a:latin typeface="Arimo"/>
              </a:rPr>
              <a:t> e da </a:t>
            </a:r>
            <a:r>
              <a:rPr lang="pt-BR" sz="1400" noProof="0" dirty="0">
                <a:solidFill>
                  <a:srgbClr val="475569"/>
                </a:solidFill>
                <a:latin typeface="Arimo"/>
              </a:rPr>
              <a:t>execução, o público precisa entender por que aquilo importa. Dados informam; a narrativa </a:t>
            </a:r>
            <a:r>
              <a:rPr lang="pt-BR" sz="1400" noProof="0">
                <a:solidFill>
                  <a:srgbClr val="475569"/>
                </a:solidFill>
                <a:latin typeface="Arimo"/>
              </a:rPr>
              <a:t>dá </a:t>
            </a:r>
            <a:r>
              <a:rPr lang="pt-BR" sz="1400" noProof="0" dirty="0">
                <a:solidFill>
                  <a:srgbClr val="475569"/>
                </a:solidFill>
                <a:latin typeface="Arimo"/>
              </a:rPr>
              <a:t>sentido e propósito.</a:t>
            </a:r>
          </a:p>
          <a:p>
            <a:endParaRPr lang="pt-BR" sz="1400" noProof="0" dirty="0">
              <a:solidFill>
                <a:srgbClr val="475569"/>
              </a:solidFill>
              <a:latin typeface="Arimo"/>
            </a:endParaRPr>
          </a:p>
          <a:p>
            <a:r>
              <a:rPr lang="pt-BR" sz="1400" noProof="0" dirty="0">
                <a:solidFill>
                  <a:srgbClr val="475569"/>
                </a:solidFill>
                <a:latin typeface="Arimo"/>
              </a:rPr>
              <a:t>Por isso trazemos este tema: a estrutura clássica de uma boa história é também a estrutura de uma boa apresentação de projeto — </a:t>
            </a:r>
            <a:r>
              <a:rPr lang="pt-BR" sz="1400" noProof="0">
                <a:solidFill>
                  <a:srgbClr val="475569"/>
                </a:solidFill>
                <a:latin typeface="Arimo"/>
              </a:rPr>
              <a:t>os </a:t>
            </a:r>
            <a:r>
              <a:rPr lang="pt-BR" sz="1400" noProof="0" dirty="0">
                <a:solidFill>
                  <a:srgbClr val="475569"/>
                </a:solidFill>
                <a:latin typeface="Arimo"/>
              </a:rPr>
              <a:t>cinco passos a seguir.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897880"/>
            <a:ext cx="10671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3B82F6"/>
                </a:solidFill>
                <a:latin typeface="Arimo"/>
              </a:rPr>
              <a:t>Em cada slide, pergunte-se: em que ponto da história estou e o que quero que o público entenda aqui?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10896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dirty="0">
                <a:solidFill>
                  <a:srgbClr val="C00000"/>
                </a:solidFill>
                <a:latin typeface="Aptos"/>
              </a:rPr>
              <a:t>POR QUE STORYTELLING</a:t>
            </a:r>
          </a:p>
        </p:txBody>
      </p:sp>
      <p:sp>
        <p:nvSpPr>
          <p:cNvPr id="53" name="Shape 51"/>
          <p:cNvSpPr/>
          <p:nvPr/>
        </p:nvSpPr>
        <p:spPr>
          <a:xfrm>
            <a:off x="594360" y="5687568"/>
            <a:ext cx="110185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ESTRUTURA DA APRESENTAÇÃO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criar uma boa apresentação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1225296"/>
            <a:ext cx="8412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Estruture a narrativa antes de desenhar os slides. A apresentação precisa conduzir a decisão, não apenas listar informações.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436608" y="640080"/>
            <a:ext cx="54864" cy="74980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637776" y="68580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Regra prática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9637776" y="9875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menos texto, mais direção</a:t>
            </a:r>
            <a:endParaRPr kumimoji="0" lang="en-US" sz="11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4360" y="1755648"/>
            <a:ext cx="11018520" cy="18288"/>
          </a:xfrm>
          <a:prstGeom prst="rect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005840" y="2990088"/>
            <a:ext cx="10104120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822960" y="2807208"/>
            <a:ext cx="365760" cy="36576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41832" y="2921508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7472" y="20391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Contextualize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0312" y="235000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público e cenário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 flipV="1">
            <a:off x="1005840" y="2688336"/>
            <a:ext cx="0" cy="73152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2788920" y="2807208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2907792" y="2921508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313432" y="34290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Explique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176272" y="3739896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problema e tensão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971800" y="3218688"/>
            <a:ext cx="0" cy="155448"/>
          </a:xfrm>
          <a:prstGeom prst="line">
            <a:avLst/>
          </a:prstGeom>
          <a:noFill/>
          <a:ln w="1524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754880" y="2807208"/>
            <a:ext cx="365760" cy="365760"/>
          </a:xfrm>
          <a:prstGeom prst="ellipse">
            <a:avLst/>
          </a:prstGeom>
          <a:solidFill>
            <a:srgbClr val="126B3A"/>
          </a:solidFill>
          <a:ln w="12700">
            <a:solidFill>
              <a:srgbClr val="126B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873752" y="2921508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279392" y="20391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Mostre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142232" y="235000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solução proposta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 flipV="1">
            <a:off x="4937760" y="2688336"/>
            <a:ext cx="0" cy="73152"/>
          </a:xfrm>
          <a:prstGeom prst="line">
            <a:avLst/>
          </a:prstGeom>
          <a:noFill/>
          <a:ln w="15240">
            <a:solidFill>
              <a:srgbClr val="126B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720840" y="2807208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839712" y="2921508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45352" y="34290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Comprove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108192" y="3739896"/>
            <a:ext cx="1600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benefícios e investimento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903720" y="3218688"/>
            <a:ext cx="0" cy="155448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8686800" y="2807208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8805672" y="2921508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11312" y="20391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Conclua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074152" y="235000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mensagem e decisão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 flipV="1">
            <a:off x="8869680" y="2688336"/>
            <a:ext cx="0" cy="73152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10652760" y="2807208"/>
            <a:ext cx="365760" cy="36576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10771632" y="2921508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177272" y="34290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Apoie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040112" y="3739896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detalhes quando necessário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0835640" y="3218688"/>
            <a:ext cx="0" cy="155448"/>
          </a:xfrm>
          <a:prstGeom prst="line">
            <a:avLst/>
          </a:prstGeom>
          <a:noFill/>
          <a:ln w="1524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594360" y="43956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Checklist antes de apresentar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40080" y="4788840"/>
            <a:ext cx="36576" cy="6583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786384" y="477969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Pouco texto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86384" y="5090591"/>
            <a:ext cx="2148840" cy="420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B4652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cada slide deve ter uma mensagem clara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429000" y="4788840"/>
            <a:ext cx="36576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3575304" y="477969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Termos traduzidos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3575304" y="5090591"/>
            <a:ext cx="2148840" cy="420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B4652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explique conceitos técnicos para o público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217920" y="4788840"/>
            <a:ext cx="36576" cy="658368"/>
          </a:xfrm>
          <a:prstGeom prst="rect">
            <a:avLst/>
          </a:prstGeom>
          <a:solidFill>
            <a:srgbClr val="126B3A"/>
          </a:solidFill>
          <a:ln w="12700">
            <a:solidFill>
              <a:srgbClr val="126B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6364224" y="477969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Lógica visível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364224" y="5090591"/>
            <a:ext cx="2148840" cy="420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B4652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 ordem pode variar, mas precisa contar uma história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006840" y="4788840"/>
            <a:ext cx="36576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9153144" y="477969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Slides de apoio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153144" y="5090591"/>
            <a:ext cx="2148840" cy="420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B4652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use anexos para detalhes, desenhos, vídeos ou evidências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94360" y="5739816"/>
            <a:ext cx="110185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594360" y="5950128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Uma boa apresentação transforma informação em uma decisão fácil de entender.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6" name="Logo Cla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9636" y="5822376"/>
            <a:ext cx="945102" cy="8528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685800"/>
            <a:ext cx="818769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27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Os 4 princípios do design para apresentação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225296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esta revisão antes de entregar os slides: a história precisa aparecer com clareza visual</a:t>
            </a:r>
            <a:r>
              <a:rPr lang="en-US" sz="12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189720" y="658368"/>
            <a:ext cx="54864" cy="7315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372600" y="6949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7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não é enfeite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72600" y="98755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 organização da mensagem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755648"/>
            <a:ext cx="11018520" cy="18288"/>
          </a:xfrm>
          <a:prstGeom prst="rect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310128" y="2139696"/>
            <a:ext cx="562356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566160" y="2432304"/>
            <a:ext cx="2331720" cy="11887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566160" y="2706624"/>
            <a:ext cx="4343400" cy="7315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566160" y="3081528"/>
            <a:ext cx="2176272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566160" y="3319272"/>
            <a:ext cx="196596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3566160" y="3557016"/>
            <a:ext cx="233172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510528" y="3008376"/>
            <a:ext cx="1755648" cy="1298448"/>
          </a:xfrm>
          <a:prstGeom prst="roundRect">
            <a:avLst>
              <a:gd name="adj" fmla="val 4225"/>
            </a:avLst>
          </a:prstGeom>
          <a:solidFill>
            <a:srgbClr val="E8EEF5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 flipV="1">
            <a:off x="6711696" y="3364992"/>
            <a:ext cx="1280160" cy="713232"/>
          </a:xfrm>
          <a:prstGeom prst="line">
            <a:avLst/>
          </a:prstGeom>
          <a:solidFill>
            <a:srgbClr val="0E7490"/>
          </a:solidFill>
          <a:ln w="254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 flipV="1">
            <a:off x="7168896" y="3602736"/>
            <a:ext cx="1005840" cy="429768"/>
          </a:xfrm>
          <a:prstGeom prst="line">
            <a:avLst/>
          </a:prstGeom>
          <a:solidFill>
            <a:srgbClr val="126B3A"/>
          </a:solidFill>
          <a:ln w="25400">
            <a:solidFill>
              <a:srgbClr val="126B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3566160" y="2340864"/>
            <a:ext cx="0" cy="2404872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236208" y="2340864"/>
            <a:ext cx="0" cy="2404872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613648" y="2340864"/>
            <a:ext cx="0" cy="2404872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493008" y="2980944"/>
            <a:ext cx="516636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3493008" y="4498848"/>
            <a:ext cx="516636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566160" y="4608576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limpo, mensagem visível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94944" y="2194560"/>
            <a:ext cx="347472" cy="34747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804672" y="2295144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70432" y="21762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7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Proximidade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70432" y="249631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pertence junto?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70432" y="279806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Agrupe o que faz parte da mesma ideia.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090672" y="2743200"/>
            <a:ext cx="548640" cy="768096"/>
          </a:xfrm>
          <a:prstGeom prst="line">
            <a:avLst/>
          </a:prstGeom>
          <a:noFill/>
          <a:ln w="1651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3607308" y="3479292"/>
            <a:ext cx="64008" cy="6400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94944" y="3995928"/>
            <a:ext cx="347472" cy="34747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804672" y="4096512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70432" y="3977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7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Alinhamento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70432" y="429768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precisa ficar organizado?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70432" y="48188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linhas-guia e evite elementos soltos.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 flipV="1">
            <a:off x="3090672" y="2761488"/>
            <a:ext cx="493776" cy="1783080"/>
          </a:xfrm>
          <a:prstGeom prst="line">
            <a:avLst/>
          </a:prstGeom>
          <a:noFill/>
          <a:ln w="1651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3552444" y="2729484"/>
            <a:ext cx="64008" cy="6400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9445752" y="2194560"/>
            <a:ext cx="347472" cy="347472"/>
          </a:xfrm>
          <a:prstGeom prst="ellipse">
            <a:avLst/>
          </a:prstGeom>
          <a:solidFill>
            <a:srgbClr val="126B3A"/>
          </a:solidFill>
          <a:ln w="12700">
            <a:solidFill>
              <a:srgbClr val="126B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9555480" y="2295144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921240" y="21762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7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Repetição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921240" y="249631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deve seguir um padrão?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932289" y="30220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Repita estilo, cor, fonte e estrutura.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 flipH="1" flipV="1">
            <a:off x="7882128" y="2651760"/>
            <a:ext cx="1399032" cy="91440"/>
          </a:xfrm>
          <a:prstGeom prst="line">
            <a:avLst/>
          </a:prstGeom>
          <a:noFill/>
          <a:ln w="16510">
            <a:solidFill>
              <a:srgbClr val="126B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7850124" y="2619756"/>
            <a:ext cx="64008" cy="64008"/>
          </a:xfrm>
          <a:prstGeom prst="ellipse">
            <a:avLst/>
          </a:prstGeom>
          <a:solidFill>
            <a:srgbClr val="126B3A"/>
          </a:solidFill>
          <a:ln w="12700">
            <a:solidFill>
              <a:srgbClr val="126B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9445752" y="3995928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9555480" y="4096512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921240" y="3977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7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921240" y="429768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precisa chamar atenção?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932289" y="4868799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Destaque a mensagem principal do slide.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 flipH="1" flipV="1">
            <a:off x="7379208" y="3721608"/>
            <a:ext cx="1901952" cy="822960"/>
          </a:xfrm>
          <a:prstGeom prst="line">
            <a:avLst/>
          </a:prstGeom>
          <a:noFill/>
          <a:ln w="1651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7347204" y="3689604"/>
            <a:ext cx="64008" cy="6400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594360" y="5815584"/>
            <a:ext cx="11018520" cy="3657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10808208" y="625449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Claro</a:t>
            </a:r>
            <a:endParaRPr lang="en-US" sz="1200" dirty="0"/>
          </a:p>
        </p:txBody>
      </p:sp>
      <p:pic>
        <p:nvPicPr>
          <p:cNvPr id="56" name="Logo Cla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9636" y="5822376"/>
            <a:ext cx="945102" cy="85285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94360" y="310896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C00000"/>
                </a:solidFill>
                <a:latin typeface="Aptos"/>
              </a:rPr>
              <a:t>PRINCÍPIOS DE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>
                <a:solidFill>
                  <a:srgbClr val="0E2841"/>
                </a:solidFill>
                <a:latin typeface="Aptos Display"/>
              </a:rPr>
              <a:t>Os elementos importantes sugeridos</a:t>
            </a:r>
            <a:endParaRPr sz="3200" b="1" i="0">
              <a:solidFill>
                <a:srgbClr val="C00000"/>
              </a:solidFill>
              <a:latin typeface="Arial Nov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00" b="0" i="0" u="sng">
                <a:solidFill>
                  <a:srgbClr val="475569"/>
                </a:solidFill>
                <a:latin typeface="Aptos"/>
              </a:rPr>
              <a:t>Uma sugestão do que a apresentação de projeto pode conter</a:t>
            </a:r>
            <a:endParaRPr sz="1500" b="0" i="0" u="sng">
              <a:solidFill>
                <a:srgbClr val="2C3E80"/>
              </a:solidFill>
              <a:latin typeface="Trocch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106070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0" i="0" dirty="0">
                <a:solidFill>
                  <a:srgbClr val="475569"/>
                </a:solidFill>
                <a:latin typeface="Arimo"/>
              </a:rPr>
              <a:t>Independente do formato — vários slides ou um único — estes são os elementos que costumam ser esperados pelo público. Use-os como sugestão e adapte ao seu caso: o slide a seguir reúne todos em uma única página, com um exemplo real, que serve como apoio de preparação e material de aprovação.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" y="2514600"/>
            <a:ext cx="539496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0896" y="2651760"/>
            <a:ext cx="5175504" cy="301752"/>
          </a:xfrm>
          <a:prstGeom prst="roundRect">
            <a:avLst>
              <a:gd name="adj" fmla="val 8000"/>
            </a:avLst>
          </a:prstGeom>
          <a:solidFill>
            <a:srgbClr val="2C3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>
                <a:solidFill>
                  <a:srgbClr val="FFFFFF"/>
                </a:solidFill>
                <a:latin typeface="Trocchi"/>
              </a:rPr>
              <a:t>O que contar: a história</a:t>
            </a:r>
            <a:endParaRPr sz="1400">
              <a:solidFill>
                <a:srgbClr val="FFFFFF"/>
              </a:solidFill>
              <a:latin typeface="Trocch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2336" y="3154680"/>
            <a:ext cx="5029200" cy="150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Arimo"/>
              </a:rPr>
              <a:t>•  </a:t>
            </a:r>
            <a:r>
              <a:rPr lang="pt-BR" sz="1300">
                <a:solidFill>
                  <a:srgbClr val="475569"/>
                </a:solidFill>
                <a:latin typeface="Arimo"/>
              </a:rPr>
              <a:t>Contexto: quem é você e qual o assunto</a:t>
            </a:r>
            <a:r>
              <a:rPr sz="1300">
                <a:solidFill>
                  <a:srgbClr val="475569"/>
                </a:solidFill>
                <a:latin typeface="Arimo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Arimo"/>
              </a:rPr>
              <a:t>•  </a:t>
            </a:r>
            <a:r>
              <a:rPr lang="pt-BR" sz="1300">
                <a:solidFill>
                  <a:srgbClr val="475569"/>
                </a:solidFill>
                <a:latin typeface="Arimo"/>
              </a:rPr>
              <a:t>Problema: a dor concreta, </a:t>
            </a:r>
            <a:r>
              <a:rPr sz="1300">
                <a:solidFill>
                  <a:srgbClr val="475569"/>
                </a:solidFill>
                <a:latin typeface="Arimo"/>
              </a:rPr>
              <a:t>com </a:t>
            </a:r>
            <a:r>
              <a:rPr lang="pt-BR" sz="1300">
                <a:solidFill>
                  <a:srgbClr val="475569"/>
                </a:solidFill>
                <a:latin typeface="Arimo"/>
              </a:rPr>
              <a:t>evidência</a:t>
            </a:r>
            <a:r>
              <a:rPr sz="1300">
                <a:solidFill>
                  <a:srgbClr val="475569"/>
                </a:solidFill>
                <a:latin typeface="Arimo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Arimo"/>
              </a:rPr>
              <a:t>•  </a:t>
            </a:r>
            <a:r>
              <a:rPr lang="pt-BR" sz="1300">
                <a:solidFill>
                  <a:srgbClr val="475569"/>
                </a:solidFill>
                <a:latin typeface="Arimo"/>
              </a:rPr>
              <a:t>Solução proposta</a:t>
            </a:r>
            <a:r>
              <a:rPr sz="1300">
                <a:solidFill>
                  <a:srgbClr val="475569"/>
                </a:solidFill>
                <a:latin typeface="Arimo"/>
              </a:rPr>
              <a:t>, em </a:t>
            </a:r>
            <a:r>
              <a:rPr lang="pt-BR" sz="1300">
                <a:solidFill>
                  <a:srgbClr val="475569"/>
                </a:solidFill>
                <a:latin typeface="Arimo"/>
              </a:rPr>
              <a:t>uma frase</a:t>
            </a:r>
            <a:r>
              <a:rPr sz="1300">
                <a:solidFill>
                  <a:srgbClr val="475569"/>
                </a:solidFill>
                <a:latin typeface="Arimo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Arimo"/>
              </a:rPr>
              <a:t>•  </a:t>
            </a:r>
            <a:r>
              <a:rPr lang="pt-BR" sz="1300">
                <a:solidFill>
                  <a:srgbClr val="475569"/>
                </a:solidFill>
                <a:latin typeface="Arimo"/>
              </a:rPr>
              <a:t>Benefícios e indicadores de sucesso</a:t>
            </a:r>
            <a:r>
              <a:rPr sz="1300">
                <a:solidFill>
                  <a:srgbClr val="475569"/>
                </a:solidFill>
                <a:latin typeface="Arimo"/>
              </a:rPr>
              <a:t>.</a:t>
            </a:r>
            <a:endParaRPr lang="pt-BR" sz="1300">
              <a:solidFill>
                <a:srgbClr val="475569"/>
              </a:solidFill>
              <a:latin typeface="Arimo"/>
            </a:endParaRPr>
          </a:p>
          <a:p>
            <a:pPr>
              <a:spcAft>
                <a:spcPts val="800"/>
              </a:spcAft>
            </a:pPr>
            <a:endParaRPr sz="1300">
              <a:solidFill>
                <a:srgbClr val="475569"/>
              </a:solidFill>
              <a:latin typeface="Arimo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35040" y="2514600"/>
            <a:ext cx="539496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C3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44768" y="2651760"/>
            <a:ext cx="5175504" cy="301752"/>
          </a:xfrm>
          <a:prstGeom prst="roundRect">
            <a:avLst>
              <a:gd name="adj" fmla="val 8000"/>
            </a:avLst>
          </a:prstGeom>
          <a:solidFill>
            <a:srgbClr val="2C3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>
                <a:solidFill>
                  <a:srgbClr val="FFFFFF"/>
                </a:solidFill>
                <a:latin typeface="Trocchi"/>
              </a:rPr>
              <a:t>O que comprovar: a viabilidade e </a:t>
            </a:r>
            <a:r>
              <a:rPr sz="1400">
                <a:solidFill>
                  <a:srgbClr val="FFFFFF"/>
                </a:solidFill>
                <a:latin typeface="Trocchi"/>
              </a:rPr>
              <a:t>a </a:t>
            </a:r>
            <a:r>
              <a:rPr lang="pt-BR" sz="1400">
                <a:solidFill>
                  <a:srgbClr val="FFFFFF"/>
                </a:solidFill>
                <a:latin typeface="Trocchi"/>
              </a:rPr>
              <a:t>decisão</a:t>
            </a:r>
            <a:endParaRPr sz="1400">
              <a:solidFill>
                <a:srgbClr val="FFFFFF"/>
              </a:solidFill>
              <a:latin typeface="Trocch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36207" y="3154680"/>
            <a:ext cx="5029200" cy="150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Arimo"/>
              </a:rPr>
              <a:t>•  </a:t>
            </a:r>
            <a:r>
              <a:rPr lang="pt-BR" sz="1300">
                <a:solidFill>
                  <a:srgbClr val="475569"/>
                </a:solidFill>
                <a:latin typeface="Arimo"/>
              </a:rPr>
              <a:t>Investimento</a:t>
            </a:r>
            <a:r>
              <a:rPr sz="1300">
                <a:solidFill>
                  <a:srgbClr val="475569"/>
                </a:solidFill>
                <a:latin typeface="Arimo"/>
              </a:rPr>
              <a:t>, </a:t>
            </a:r>
            <a:r>
              <a:rPr lang="pt-BR" sz="1300">
                <a:solidFill>
                  <a:srgbClr val="475569"/>
                </a:solidFill>
                <a:latin typeface="Arimo"/>
              </a:rPr>
              <a:t>retorno </a:t>
            </a:r>
            <a:r>
              <a:rPr sz="1300">
                <a:solidFill>
                  <a:srgbClr val="475569"/>
                </a:solidFill>
                <a:latin typeface="Arimo"/>
              </a:rPr>
              <a:t>e </a:t>
            </a:r>
            <a:r>
              <a:rPr lang="pt-BR" sz="1300">
                <a:solidFill>
                  <a:srgbClr val="475569"/>
                </a:solidFill>
                <a:latin typeface="Arimo"/>
              </a:rPr>
              <a:t>prazo</a:t>
            </a:r>
            <a:r>
              <a:rPr sz="1300">
                <a:solidFill>
                  <a:srgbClr val="475569"/>
                </a:solidFill>
                <a:latin typeface="Arimo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Arimo"/>
              </a:rPr>
              <a:t>•  </a:t>
            </a:r>
            <a:r>
              <a:rPr lang="pt-BR" sz="1300">
                <a:solidFill>
                  <a:srgbClr val="475569"/>
                </a:solidFill>
                <a:latin typeface="Arimo"/>
              </a:rPr>
              <a:t>Riscos, mitigações e dependências.</a:t>
            </a:r>
          </a:p>
          <a:p>
            <a:pPr>
              <a:spcAft>
                <a:spcPts val="800"/>
              </a:spcAft>
            </a:pPr>
            <a:r>
              <a:rPr lang="pt-BR" sz="1300">
                <a:solidFill>
                  <a:srgbClr val="475569"/>
                </a:solidFill>
                <a:latin typeface="Arimo"/>
              </a:rPr>
              <a:t>•  Stakeholders </a:t>
            </a:r>
            <a:r>
              <a:rPr sz="1300">
                <a:solidFill>
                  <a:srgbClr val="475569"/>
                </a:solidFill>
                <a:latin typeface="Arimo"/>
              </a:rPr>
              <a:t>e </a:t>
            </a:r>
            <a:r>
              <a:rPr lang="pt-BR" sz="1300">
                <a:solidFill>
                  <a:srgbClr val="475569"/>
                </a:solidFill>
                <a:latin typeface="Arimo"/>
              </a:rPr>
              <a:t>status atual</a:t>
            </a:r>
            <a:r>
              <a:rPr sz="1300">
                <a:solidFill>
                  <a:srgbClr val="475569"/>
                </a:solidFill>
                <a:latin typeface="Arimo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pt-BR" sz="1300">
                <a:solidFill>
                  <a:srgbClr val="475569"/>
                </a:solidFill>
                <a:latin typeface="Arimo"/>
              </a:rPr>
              <a:t>•  Decisão solicitada ao público.</a:t>
            </a:r>
          </a:p>
          <a:p>
            <a:pPr>
              <a:spcAft>
                <a:spcPts val="800"/>
              </a:spcAft>
            </a:pPr>
            <a:endParaRPr lang="pt-BR" sz="1300">
              <a:solidFill>
                <a:srgbClr val="475569"/>
              </a:solidFill>
              <a:latin typeface="Arim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5897880"/>
            <a:ext cx="10607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00" b="1" i="0">
                <a:solidFill>
                  <a:srgbClr val="1A2744"/>
                </a:solidFill>
                <a:latin typeface="Aptos Display"/>
              </a:rPr>
              <a:t>Quanto mais desses elementos estiverem claros, mais fácil fica para o público decidir.</a:t>
            </a:r>
          </a:p>
        </p:txBody>
      </p:sp>
      <p:pic>
        <p:nvPicPr>
          <p:cNvPr id="15" name="Logo Claro">
            <a:extLst>
              <a:ext uri="{FF2B5EF4-FFF2-40B4-BE49-F238E27FC236}">
                <a16:creationId xmlns:a16="http://schemas.microsoft.com/office/drawing/2014/main" id="{5CEDDB3A-AFD2-8BBF-EEE6-6B0E33494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9636" y="5822376"/>
            <a:ext cx="945102" cy="85285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4360" y="310896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C00000"/>
                </a:solidFill>
                <a:latin typeface="Aptos"/>
              </a:rPr>
              <a:t>ELEMENTOS DA APRESENTAÇÃO</a:t>
            </a:r>
          </a:p>
        </p:txBody>
      </p:sp>
      <p:sp>
        <p:nvSpPr>
          <p:cNvPr id="53" name="Shape 51"/>
          <p:cNvSpPr/>
          <p:nvPr/>
        </p:nvSpPr>
        <p:spPr>
          <a:xfrm>
            <a:off x="594360" y="5687568"/>
            <a:ext cx="110185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4" name="Picture 53" descr="icon-book-3b618a9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2702052"/>
            <a:ext cx="192024" cy="192024"/>
          </a:xfrm>
          <a:prstGeom prst="rect">
            <a:avLst/>
          </a:prstGeom>
        </p:spPr>
      </p:pic>
      <p:pic>
        <p:nvPicPr>
          <p:cNvPr id="55" name="Picture 54" descr="icon-data-bar-vertical-c6c790b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2702052"/>
            <a:ext cx="192024" cy="1920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6850" y="1007115"/>
            <a:ext cx="2813050" cy="1526456"/>
            <a:chOff x="0" y="-38100"/>
            <a:chExt cx="5626100" cy="3763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26100" cy="3724980"/>
            </a:xfrm>
            <a:custGeom>
              <a:avLst/>
              <a:gdLst/>
              <a:ahLst/>
              <a:cxnLst/>
              <a:rect l="l" t="t" r="r" b="b"/>
              <a:pathLst>
                <a:path w="5626100" h="3724980">
                  <a:moveTo>
                    <a:pt x="388620" y="0"/>
                  </a:moveTo>
                  <a:lnTo>
                    <a:pt x="5237480" y="0"/>
                  </a:lnTo>
                  <a:cubicBezTo>
                    <a:pt x="5340548" y="0"/>
                    <a:pt x="5439396" y="39245"/>
                    <a:pt x="5512276" y="109102"/>
                  </a:cubicBezTo>
                  <a:cubicBezTo>
                    <a:pt x="5585156" y="178959"/>
                    <a:pt x="5626100" y="273705"/>
                    <a:pt x="5626100" y="372498"/>
                  </a:cubicBezTo>
                  <a:lnTo>
                    <a:pt x="5626100" y="3352482"/>
                  </a:lnTo>
                  <a:cubicBezTo>
                    <a:pt x="5626100" y="3451275"/>
                    <a:pt x="5585156" y="3546021"/>
                    <a:pt x="5512276" y="3615878"/>
                  </a:cubicBezTo>
                  <a:cubicBezTo>
                    <a:pt x="5439396" y="3685735"/>
                    <a:pt x="5340548" y="3724980"/>
                    <a:pt x="5237480" y="3724980"/>
                  </a:cubicBezTo>
                  <a:lnTo>
                    <a:pt x="388620" y="3724980"/>
                  </a:lnTo>
                  <a:cubicBezTo>
                    <a:pt x="285552" y="3724980"/>
                    <a:pt x="186705" y="3685735"/>
                    <a:pt x="113824" y="3615878"/>
                  </a:cubicBezTo>
                  <a:cubicBezTo>
                    <a:pt x="40944" y="3546021"/>
                    <a:pt x="0" y="3451275"/>
                    <a:pt x="0" y="3352482"/>
                  </a:cubicBezTo>
                  <a:lnTo>
                    <a:pt x="0" y="372498"/>
                  </a:lnTo>
                  <a:cubicBezTo>
                    <a:pt x="0" y="166773"/>
                    <a:pt x="173991" y="0"/>
                    <a:pt x="3886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5DD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626100" cy="37630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l" defTabSz="609630" rtl="0" eaLnBrk="1" fontAlgn="auto" latinLnBrk="0" hangingPunct="1">
                <a:lnSpc>
                  <a:spcPts val="111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17500" y="989889"/>
            <a:ext cx="2679700" cy="237739"/>
            <a:chOff x="0" y="-38100"/>
            <a:chExt cx="5582822" cy="4953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82822" cy="457200"/>
            </a:xfrm>
            <a:custGeom>
              <a:avLst/>
              <a:gdLst/>
              <a:ahLst/>
              <a:cxnLst/>
              <a:rect l="l" t="t" r="r" b="b"/>
              <a:pathLst>
                <a:path w="5582822" h="457200">
                  <a:moveTo>
                    <a:pt x="45368" y="0"/>
                  </a:moveTo>
                  <a:lnTo>
                    <a:pt x="5537454" y="0"/>
                  </a:lnTo>
                  <a:cubicBezTo>
                    <a:pt x="5549486" y="0"/>
                    <a:pt x="5561026" y="4817"/>
                    <a:pt x="5569534" y="13391"/>
                  </a:cubicBezTo>
                  <a:cubicBezTo>
                    <a:pt x="5578042" y="21965"/>
                    <a:pt x="5582822" y="33594"/>
                    <a:pt x="5582822" y="45720"/>
                  </a:cubicBezTo>
                  <a:lnTo>
                    <a:pt x="5582822" y="411480"/>
                  </a:lnTo>
                  <a:cubicBezTo>
                    <a:pt x="5582822" y="423606"/>
                    <a:pt x="5578042" y="435235"/>
                    <a:pt x="5569534" y="443809"/>
                  </a:cubicBezTo>
                  <a:cubicBezTo>
                    <a:pt x="5561026" y="452383"/>
                    <a:pt x="5549486" y="457200"/>
                    <a:pt x="5537454" y="457200"/>
                  </a:cubicBezTo>
                  <a:lnTo>
                    <a:pt x="45368" y="457200"/>
                  </a:lnTo>
                  <a:cubicBezTo>
                    <a:pt x="20312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20312" y="0"/>
                    <a:pt x="45368" y="0"/>
                  </a:cubicBezTo>
                  <a:close/>
                </a:path>
              </a:pathLst>
            </a:custGeom>
            <a:solidFill>
              <a:srgbClr val="2C3E80"/>
            </a:solidFill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582822" cy="4953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l" defTabSz="609630" rtl="0" eaLnBrk="1" fontAlgn="auto" latinLnBrk="0" hangingPunct="1">
                <a:lnSpc>
                  <a:spcPts val="111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17500" y="1452611"/>
            <a:ext cx="2635250" cy="954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149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Contexto: Banco</a:t>
            </a:r>
          </a:p>
          <a:p>
            <a:pPr marL="0" marR="0" lvl="0" indent="0" algn="l" defTabSz="609630" rtl="0" eaLnBrk="1" fontAlgn="auto" latinLnBrk="0" hangingPunct="1">
              <a:lnSpc>
                <a:spcPts val="149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Tipo de Cliente: Pessoa física</a:t>
            </a:r>
          </a:p>
          <a:p>
            <a:pPr marL="0" marR="0" lvl="0" indent="0" algn="l" defTabSz="609630" rtl="0" eaLnBrk="1" fontAlgn="auto" latinLnBrk="0" hangingPunct="1">
              <a:lnSpc>
                <a:spcPts val="149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solidFill>
                <a:srgbClr val="3D3D3D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defTabSz="609630" rtl="0" eaLnBrk="1" fontAlgn="auto" latinLnBrk="0" hangingPunct="1">
              <a:lnSpc>
                <a:spcPts val="149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Processo: transações financeiras pelo aplicativo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111500" y="1007115"/>
            <a:ext cx="2813050" cy="1526456"/>
            <a:chOff x="0" y="-38100"/>
            <a:chExt cx="5626100" cy="37630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26100" cy="3724980"/>
            </a:xfrm>
            <a:custGeom>
              <a:avLst/>
              <a:gdLst/>
              <a:ahLst/>
              <a:cxnLst/>
              <a:rect l="l" t="t" r="r" b="b"/>
              <a:pathLst>
                <a:path w="5626100" h="3724980">
                  <a:moveTo>
                    <a:pt x="388620" y="0"/>
                  </a:moveTo>
                  <a:lnTo>
                    <a:pt x="5237480" y="0"/>
                  </a:lnTo>
                  <a:cubicBezTo>
                    <a:pt x="5340548" y="0"/>
                    <a:pt x="5439396" y="39245"/>
                    <a:pt x="5512276" y="109102"/>
                  </a:cubicBezTo>
                  <a:cubicBezTo>
                    <a:pt x="5585156" y="178959"/>
                    <a:pt x="5626100" y="273705"/>
                    <a:pt x="5626100" y="372498"/>
                  </a:cubicBezTo>
                  <a:lnTo>
                    <a:pt x="5626100" y="3352482"/>
                  </a:lnTo>
                  <a:cubicBezTo>
                    <a:pt x="5626100" y="3451275"/>
                    <a:pt x="5585156" y="3546021"/>
                    <a:pt x="5512276" y="3615878"/>
                  </a:cubicBezTo>
                  <a:cubicBezTo>
                    <a:pt x="5439396" y="3685735"/>
                    <a:pt x="5340548" y="3724980"/>
                    <a:pt x="5237480" y="3724980"/>
                  </a:cubicBezTo>
                  <a:lnTo>
                    <a:pt x="388620" y="3724980"/>
                  </a:lnTo>
                  <a:cubicBezTo>
                    <a:pt x="285552" y="3724980"/>
                    <a:pt x="186705" y="3685735"/>
                    <a:pt x="113824" y="3615878"/>
                  </a:cubicBezTo>
                  <a:cubicBezTo>
                    <a:pt x="40944" y="3546021"/>
                    <a:pt x="0" y="3451275"/>
                    <a:pt x="0" y="3352482"/>
                  </a:cubicBezTo>
                  <a:lnTo>
                    <a:pt x="0" y="372498"/>
                  </a:lnTo>
                  <a:cubicBezTo>
                    <a:pt x="0" y="166773"/>
                    <a:pt x="173991" y="0"/>
                    <a:pt x="3886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5DD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626100" cy="37630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l" defTabSz="609630" rtl="0" eaLnBrk="1" fontAlgn="auto" latinLnBrk="0" hangingPunct="1">
                <a:lnSpc>
                  <a:spcPts val="111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209729" y="989889"/>
            <a:ext cx="2679700" cy="237739"/>
            <a:chOff x="0" y="-38100"/>
            <a:chExt cx="5582822" cy="4953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582822" cy="457200"/>
            </a:xfrm>
            <a:custGeom>
              <a:avLst/>
              <a:gdLst/>
              <a:ahLst/>
              <a:cxnLst/>
              <a:rect l="l" t="t" r="r" b="b"/>
              <a:pathLst>
                <a:path w="5582822" h="457200">
                  <a:moveTo>
                    <a:pt x="45368" y="0"/>
                  </a:moveTo>
                  <a:lnTo>
                    <a:pt x="5537454" y="0"/>
                  </a:lnTo>
                  <a:cubicBezTo>
                    <a:pt x="5549486" y="0"/>
                    <a:pt x="5561026" y="4817"/>
                    <a:pt x="5569534" y="13391"/>
                  </a:cubicBezTo>
                  <a:cubicBezTo>
                    <a:pt x="5578042" y="21965"/>
                    <a:pt x="5582822" y="33594"/>
                    <a:pt x="5582822" y="45720"/>
                  </a:cubicBezTo>
                  <a:lnTo>
                    <a:pt x="5582822" y="411480"/>
                  </a:lnTo>
                  <a:cubicBezTo>
                    <a:pt x="5582822" y="423606"/>
                    <a:pt x="5578042" y="435235"/>
                    <a:pt x="5569534" y="443809"/>
                  </a:cubicBezTo>
                  <a:cubicBezTo>
                    <a:pt x="5561026" y="452383"/>
                    <a:pt x="5549486" y="457200"/>
                    <a:pt x="5537454" y="457200"/>
                  </a:cubicBezTo>
                  <a:lnTo>
                    <a:pt x="45368" y="457200"/>
                  </a:lnTo>
                  <a:cubicBezTo>
                    <a:pt x="20312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20312" y="0"/>
                    <a:pt x="45368" y="0"/>
                  </a:cubicBezTo>
                  <a:close/>
                </a:path>
              </a:pathLst>
            </a:custGeom>
            <a:solidFill>
              <a:srgbClr val="2C3E80"/>
            </a:solidFill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582822" cy="4953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l" defTabSz="609630" rtl="0" eaLnBrk="1" fontAlgn="auto" latinLnBrk="0" hangingPunct="1">
                <a:lnSpc>
                  <a:spcPts val="111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321050" y="1003519"/>
            <a:ext cx="2616200" cy="230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1866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occhi"/>
                <a:ea typeface="Trocchi"/>
                <a:cs typeface="Trocchi"/>
                <a:sym typeface="Trocchi"/>
              </a:rPr>
              <a:t>Problema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89300" y="1588219"/>
            <a:ext cx="2635250" cy="762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149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solidFill>
                  <a:srgbClr val="3D3D3D"/>
                </a:solidFill>
                <a:latin typeface="Arimo"/>
                <a:ea typeface="Arimo"/>
                <a:cs typeface="Arimo"/>
                <a:sym typeface="Arimo"/>
              </a:rPr>
              <a:t>Ter dois aplicativos, um para conta corrente e outro para cartão de crédito gera insatisfação no cliente e custos desnecessários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3D3D3D"/>
              </a:solidFill>
              <a:effectLst/>
              <a:uLnTx/>
              <a:uFillTx/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6057900" y="1007115"/>
            <a:ext cx="2813050" cy="1526456"/>
            <a:chOff x="0" y="-38100"/>
            <a:chExt cx="5626100" cy="37630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626100" cy="3724980"/>
            </a:xfrm>
            <a:custGeom>
              <a:avLst/>
              <a:gdLst/>
              <a:ahLst/>
              <a:cxnLst/>
              <a:rect l="l" t="t" r="r" b="b"/>
              <a:pathLst>
                <a:path w="5626100" h="3724980">
                  <a:moveTo>
                    <a:pt x="388620" y="0"/>
                  </a:moveTo>
                  <a:lnTo>
                    <a:pt x="5237480" y="0"/>
                  </a:lnTo>
                  <a:cubicBezTo>
                    <a:pt x="5340548" y="0"/>
                    <a:pt x="5439396" y="39245"/>
                    <a:pt x="5512276" y="109102"/>
                  </a:cubicBezTo>
                  <a:cubicBezTo>
                    <a:pt x="5585156" y="178959"/>
                    <a:pt x="5626100" y="273705"/>
                    <a:pt x="5626100" y="372498"/>
                  </a:cubicBezTo>
                  <a:lnTo>
                    <a:pt x="5626100" y="3352482"/>
                  </a:lnTo>
                  <a:cubicBezTo>
                    <a:pt x="5626100" y="3451275"/>
                    <a:pt x="5585156" y="3546021"/>
                    <a:pt x="5512276" y="3615878"/>
                  </a:cubicBezTo>
                  <a:cubicBezTo>
                    <a:pt x="5439396" y="3685735"/>
                    <a:pt x="5340548" y="3724980"/>
                    <a:pt x="5237480" y="3724980"/>
                  </a:cubicBezTo>
                  <a:lnTo>
                    <a:pt x="388620" y="3724980"/>
                  </a:lnTo>
                  <a:cubicBezTo>
                    <a:pt x="285552" y="3724980"/>
                    <a:pt x="186705" y="3685735"/>
                    <a:pt x="113824" y="3615878"/>
                  </a:cubicBezTo>
                  <a:cubicBezTo>
                    <a:pt x="40944" y="3546021"/>
                    <a:pt x="0" y="3451275"/>
                    <a:pt x="0" y="3352482"/>
                  </a:cubicBezTo>
                  <a:lnTo>
                    <a:pt x="0" y="372498"/>
                  </a:lnTo>
                  <a:cubicBezTo>
                    <a:pt x="0" y="166773"/>
                    <a:pt x="173991" y="0"/>
                    <a:pt x="3886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5DD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5626100" cy="37630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l" defTabSz="609630" rtl="0" eaLnBrk="1" fontAlgn="auto" latinLnBrk="0" hangingPunct="1">
                <a:lnSpc>
                  <a:spcPts val="111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101959" y="989126"/>
            <a:ext cx="2713331" cy="247650"/>
            <a:chOff x="0" y="-38100"/>
            <a:chExt cx="5426661" cy="4953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426661" cy="457200"/>
            </a:xfrm>
            <a:custGeom>
              <a:avLst/>
              <a:gdLst/>
              <a:ahLst/>
              <a:cxnLst/>
              <a:rect l="l" t="t" r="r" b="b"/>
              <a:pathLst>
                <a:path w="5426661" h="457200">
                  <a:moveTo>
                    <a:pt x="44099" y="0"/>
                  </a:moveTo>
                  <a:lnTo>
                    <a:pt x="5382562" y="0"/>
                  </a:lnTo>
                  <a:cubicBezTo>
                    <a:pt x="5394258" y="0"/>
                    <a:pt x="5405474" y="4817"/>
                    <a:pt x="5413745" y="13391"/>
                  </a:cubicBezTo>
                  <a:cubicBezTo>
                    <a:pt x="5422015" y="21965"/>
                    <a:pt x="5426661" y="33594"/>
                    <a:pt x="5426661" y="45720"/>
                  </a:cubicBezTo>
                  <a:lnTo>
                    <a:pt x="5426661" y="411480"/>
                  </a:lnTo>
                  <a:cubicBezTo>
                    <a:pt x="5426661" y="423606"/>
                    <a:pt x="5422015" y="435235"/>
                    <a:pt x="5413745" y="443809"/>
                  </a:cubicBezTo>
                  <a:cubicBezTo>
                    <a:pt x="5405474" y="452383"/>
                    <a:pt x="5394258" y="457200"/>
                    <a:pt x="5382562" y="457200"/>
                  </a:cubicBezTo>
                  <a:lnTo>
                    <a:pt x="44099" y="457200"/>
                  </a:lnTo>
                  <a:cubicBezTo>
                    <a:pt x="19744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19744" y="0"/>
                    <a:pt x="44099" y="0"/>
                  </a:cubicBezTo>
                  <a:close/>
                </a:path>
              </a:pathLst>
            </a:custGeom>
            <a:solidFill>
              <a:srgbClr val="2C3E80"/>
            </a:solidFill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5426661" cy="4953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l" defTabSz="609630" rtl="0" eaLnBrk="1" fontAlgn="auto" latinLnBrk="0" hangingPunct="1">
                <a:lnSpc>
                  <a:spcPts val="111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235700" y="1003519"/>
            <a:ext cx="2555622" cy="230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1866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occhi"/>
                <a:ea typeface="Trocchi"/>
                <a:cs typeface="Trocchi"/>
                <a:sym typeface="Trocchi"/>
              </a:rPr>
              <a:t>Solução Proposta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195886" y="1590719"/>
            <a:ext cx="2635250" cy="377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149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Um único aplicativo para conta corrente e cartão de crédito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972550" y="1007115"/>
            <a:ext cx="2813050" cy="1526456"/>
            <a:chOff x="0" y="-38100"/>
            <a:chExt cx="5626100" cy="376308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626100" cy="3724980"/>
            </a:xfrm>
            <a:custGeom>
              <a:avLst/>
              <a:gdLst/>
              <a:ahLst/>
              <a:cxnLst/>
              <a:rect l="l" t="t" r="r" b="b"/>
              <a:pathLst>
                <a:path w="5626100" h="3724980">
                  <a:moveTo>
                    <a:pt x="388620" y="0"/>
                  </a:moveTo>
                  <a:lnTo>
                    <a:pt x="5237480" y="0"/>
                  </a:lnTo>
                  <a:cubicBezTo>
                    <a:pt x="5340548" y="0"/>
                    <a:pt x="5439396" y="39245"/>
                    <a:pt x="5512276" y="109102"/>
                  </a:cubicBezTo>
                  <a:cubicBezTo>
                    <a:pt x="5585156" y="178959"/>
                    <a:pt x="5626100" y="273705"/>
                    <a:pt x="5626100" y="372498"/>
                  </a:cubicBezTo>
                  <a:lnTo>
                    <a:pt x="5626100" y="3352482"/>
                  </a:lnTo>
                  <a:cubicBezTo>
                    <a:pt x="5626100" y="3451275"/>
                    <a:pt x="5585156" y="3546021"/>
                    <a:pt x="5512276" y="3615878"/>
                  </a:cubicBezTo>
                  <a:cubicBezTo>
                    <a:pt x="5439396" y="3685735"/>
                    <a:pt x="5340548" y="3724980"/>
                    <a:pt x="5237480" y="3724980"/>
                  </a:cubicBezTo>
                  <a:lnTo>
                    <a:pt x="388620" y="3724980"/>
                  </a:lnTo>
                  <a:cubicBezTo>
                    <a:pt x="285552" y="3724980"/>
                    <a:pt x="186705" y="3685735"/>
                    <a:pt x="113824" y="3615878"/>
                  </a:cubicBezTo>
                  <a:cubicBezTo>
                    <a:pt x="40944" y="3546021"/>
                    <a:pt x="0" y="3451275"/>
                    <a:pt x="0" y="3352482"/>
                  </a:cubicBezTo>
                  <a:lnTo>
                    <a:pt x="0" y="372498"/>
                  </a:lnTo>
                  <a:cubicBezTo>
                    <a:pt x="0" y="166773"/>
                    <a:pt x="173991" y="0"/>
                    <a:pt x="3886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5DD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5626100" cy="37630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l" defTabSz="609630" rtl="0" eaLnBrk="1" fontAlgn="auto" latinLnBrk="0" hangingPunct="1">
                <a:lnSpc>
                  <a:spcPts val="111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994189" y="989126"/>
            <a:ext cx="2689032" cy="247650"/>
            <a:chOff x="0" y="-38100"/>
            <a:chExt cx="5378064" cy="4953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378064" cy="457200"/>
            </a:xfrm>
            <a:custGeom>
              <a:avLst/>
              <a:gdLst/>
              <a:ahLst/>
              <a:cxnLst/>
              <a:rect l="l" t="t" r="r" b="b"/>
              <a:pathLst>
                <a:path w="5378064" h="457200">
                  <a:moveTo>
                    <a:pt x="43704" y="0"/>
                  </a:moveTo>
                  <a:lnTo>
                    <a:pt x="5334360" y="0"/>
                  </a:lnTo>
                  <a:cubicBezTo>
                    <a:pt x="5345951" y="0"/>
                    <a:pt x="5357067" y="4817"/>
                    <a:pt x="5365264" y="13391"/>
                  </a:cubicBezTo>
                  <a:cubicBezTo>
                    <a:pt x="5373460" y="21965"/>
                    <a:pt x="5378064" y="33594"/>
                    <a:pt x="5378064" y="45720"/>
                  </a:cubicBezTo>
                  <a:lnTo>
                    <a:pt x="5378064" y="411480"/>
                  </a:lnTo>
                  <a:cubicBezTo>
                    <a:pt x="5378064" y="423606"/>
                    <a:pt x="5373460" y="435235"/>
                    <a:pt x="5365264" y="443809"/>
                  </a:cubicBezTo>
                  <a:cubicBezTo>
                    <a:pt x="5357067" y="452383"/>
                    <a:pt x="5345951" y="457200"/>
                    <a:pt x="5334360" y="457200"/>
                  </a:cubicBezTo>
                  <a:lnTo>
                    <a:pt x="43704" y="457200"/>
                  </a:lnTo>
                  <a:cubicBezTo>
                    <a:pt x="19567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19567" y="0"/>
                    <a:pt x="43704" y="0"/>
                  </a:cubicBezTo>
                  <a:close/>
                </a:path>
              </a:pathLst>
            </a:custGeom>
            <a:solidFill>
              <a:srgbClr val="2C3E80"/>
            </a:solidFill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5378064" cy="4953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l" defTabSz="609630" rtl="0" eaLnBrk="1" fontAlgn="auto" latinLnBrk="0" hangingPunct="1">
                <a:lnSpc>
                  <a:spcPts val="111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150350" y="1003519"/>
            <a:ext cx="2532871" cy="230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1866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occhi"/>
                <a:ea typeface="Trocchi"/>
                <a:cs typeface="Trocchi"/>
                <a:sym typeface="Trocchi"/>
              </a:rPr>
              <a:t>Benefícios Esperados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061450" y="1425105"/>
            <a:ext cx="2635250" cy="950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1450" marR="0" lvl="0" indent="-171450" algn="l" defTabSz="609630" rtl="0" eaLnBrk="1" fontAlgn="auto" latinLnBrk="0" hangingPunct="1">
              <a:lnSpc>
                <a:spcPts val="149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Melhorar em 20% a avaliação do aplicativo Conta Corrente pelos clientes</a:t>
            </a:r>
          </a:p>
          <a:p>
            <a:pPr marL="171450" marR="0" lvl="0" indent="-171450" algn="l" defTabSz="609630" rtl="0" eaLnBrk="1" fontAlgn="auto" latinLnBrk="0" hangingPunct="1">
              <a:lnSpc>
                <a:spcPts val="149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Redução de 10% de custos operacionais com aplicativos (100% do App Cartão de Crédito)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96850" y="2787510"/>
            <a:ext cx="2813050" cy="1526456"/>
            <a:chOff x="0" y="-38100"/>
            <a:chExt cx="5626100" cy="376308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626100" cy="3724980"/>
            </a:xfrm>
            <a:custGeom>
              <a:avLst/>
              <a:gdLst/>
              <a:ahLst/>
              <a:cxnLst/>
              <a:rect l="l" t="t" r="r" b="b"/>
              <a:pathLst>
                <a:path w="5626100" h="3724980">
                  <a:moveTo>
                    <a:pt x="388620" y="0"/>
                  </a:moveTo>
                  <a:lnTo>
                    <a:pt x="5237480" y="0"/>
                  </a:lnTo>
                  <a:cubicBezTo>
                    <a:pt x="5340548" y="0"/>
                    <a:pt x="5439396" y="39245"/>
                    <a:pt x="5512276" y="109102"/>
                  </a:cubicBezTo>
                  <a:cubicBezTo>
                    <a:pt x="5585156" y="178959"/>
                    <a:pt x="5626100" y="273705"/>
                    <a:pt x="5626100" y="372498"/>
                  </a:cubicBezTo>
                  <a:lnTo>
                    <a:pt x="5626100" y="3352482"/>
                  </a:lnTo>
                  <a:cubicBezTo>
                    <a:pt x="5626100" y="3451275"/>
                    <a:pt x="5585156" y="3546021"/>
                    <a:pt x="5512276" y="3615878"/>
                  </a:cubicBezTo>
                  <a:cubicBezTo>
                    <a:pt x="5439396" y="3685735"/>
                    <a:pt x="5340548" y="3724980"/>
                    <a:pt x="5237480" y="3724980"/>
                  </a:cubicBezTo>
                  <a:lnTo>
                    <a:pt x="388620" y="3724980"/>
                  </a:lnTo>
                  <a:cubicBezTo>
                    <a:pt x="285552" y="3724980"/>
                    <a:pt x="186705" y="3685735"/>
                    <a:pt x="113824" y="3615878"/>
                  </a:cubicBezTo>
                  <a:cubicBezTo>
                    <a:pt x="40944" y="3546021"/>
                    <a:pt x="0" y="3451275"/>
                    <a:pt x="0" y="3352482"/>
                  </a:cubicBezTo>
                  <a:lnTo>
                    <a:pt x="0" y="372498"/>
                  </a:lnTo>
                  <a:cubicBezTo>
                    <a:pt x="0" y="166773"/>
                    <a:pt x="173991" y="0"/>
                    <a:pt x="3886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5DD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5626100" cy="37630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l" defTabSz="609630" rtl="0" eaLnBrk="1" fontAlgn="auto" latinLnBrk="0" hangingPunct="1">
                <a:lnSpc>
                  <a:spcPts val="111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" y="2854347"/>
            <a:ext cx="2679700" cy="247650"/>
            <a:chOff x="0" y="-38100"/>
            <a:chExt cx="5359400" cy="4953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359400" cy="457200"/>
            </a:xfrm>
            <a:custGeom>
              <a:avLst/>
              <a:gdLst/>
              <a:ahLst/>
              <a:cxnLst/>
              <a:rect l="l" t="t" r="r" b="b"/>
              <a:pathLst>
                <a:path w="5359400" h="457200">
                  <a:moveTo>
                    <a:pt x="43553" y="0"/>
                  </a:moveTo>
                  <a:lnTo>
                    <a:pt x="5315847" y="0"/>
                  </a:lnTo>
                  <a:cubicBezTo>
                    <a:pt x="5327398" y="0"/>
                    <a:pt x="5338476" y="4817"/>
                    <a:pt x="5346644" y="13391"/>
                  </a:cubicBezTo>
                  <a:cubicBezTo>
                    <a:pt x="5354812" y="21965"/>
                    <a:pt x="5359400" y="33594"/>
                    <a:pt x="5359400" y="45720"/>
                  </a:cubicBezTo>
                  <a:lnTo>
                    <a:pt x="5359400" y="411480"/>
                  </a:lnTo>
                  <a:cubicBezTo>
                    <a:pt x="5359400" y="423606"/>
                    <a:pt x="5354812" y="435235"/>
                    <a:pt x="5346644" y="443809"/>
                  </a:cubicBezTo>
                  <a:cubicBezTo>
                    <a:pt x="5338476" y="452383"/>
                    <a:pt x="5327398" y="457200"/>
                    <a:pt x="5315847" y="457200"/>
                  </a:cubicBezTo>
                  <a:lnTo>
                    <a:pt x="43553" y="457200"/>
                  </a:lnTo>
                  <a:cubicBezTo>
                    <a:pt x="19499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19499" y="0"/>
                    <a:pt x="43553" y="0"/>
                  </a:cubicBezTo>
                  <a:close/>
                </a:path>
              </a:pathLst>
            </a:custGeom>
            <a:solidFill>
              <a:srgbClr val="2C3E80"/>
            </a:solidFill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5359400" cy="4953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l" defTabSz="609630" rtl="0" eaLnBrk="1" fontAlgn="auto" latinLnBrk="0" hangingPunct="1">
                <a:lnSpc>
                  <a:spcPts val="111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374650" y="2868740"/>
            <a:ext cx="2635250" cy="230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1866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occhi"/>
                <a:ea typeface="Trocchi"/>
                <a:cs typeface="Trocchi"/>
                <a:sym typeface="Trocchi"/>
              </a:rPr>
              <a:t>Indicadores de Sucesso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39725" y="3223088"/>
            <a:ext cx="2635250" cy="757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1450" marR="0" lvl="0" indent="-171450" algn="l" defTabSz="609630" rtl="0" eaLnBrk="1" fontAlgn="auto" latinLnBrk="0" hangingPunct="1">
              <a:lnSpc>
                <a:spcPts val="149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Migrar 100% dos clientes </a:t>
            </a:r>
          </a:p>
          <a:p>
            <a:pPr marL="171450" marR="0" lvl="0" indent="-171450" algn="l" defTabSz="609630" rtl="0" eaLnBrk="1" fontAlgn="auto" latinLnBrk="0" hangingPunct="1">
              <a:lnSpc>
                <a:spcPts val="149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Melhorar em 20% a avaliação do aplicativo Conta Corrente</a:t>
            </a:r>
          </a:p>
          <a:p>
            <a:pPr marL="171450" marR="0" lvl="0" indent="-171450" algn="l" defTabSz="609630" rtl="0" eaLnBrk="1" fontAlgn="auto" latinLnBrk="0" hangingPunct="1">
              <a:lnSpc>
                <a:spcPts val="149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Redução de 10% de custos 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3111500" y="2787510"/>
            <a:ext cx="2813050" cy="1526456"/>
            <a:chOff x="0" y="-38100"/>
            <a:chExt cx="5626100" cy="376308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626100" cy="3724980"/>
            </a:xfrm>
            <a:custGeom>
              <a:avLst/>
              <a:gdLst/>
              <a:ahLst/>
              <a:cxnLst/>
              <a:rect l="l" t="t" r="r" b="b"/>
              <a:pathLst>
                <a:path w="5626100" h="3724980">
                  <a:moveTo>
                    <a:pt x="388620" y="0"/>
                  </a:moveTo>
                  <a:lnTo>
                    <a:pt x="5237480" y="0"/>
                  </a:lnTo>
                  <a:cubicBezTo>
                    <a:pt x="5340548" y="0"/>
                    <a:pt x="5439396" y="39245"/>
                    <a:pt x="5512276" y="109102"/>
                  </a:cubicBezTo>
                  <a:cubicBezTo>
                    <a:pt x="5585156" y="178959"/>
                    <a:pt x="5626100" y="273705"/>
                    <a:pt x="5626100" y="372498"/>
                  </a:cubicBezTo>
                  <a:lnTo>
                    <a:pt x="5626100" y="3352482"/>
                  </a:lnTo>
                  <a:cubicBezTo>
                    <a:pt x="5626100" y="3451275"/>
                    <a:pt x="5585156" y="3546021"/>
                    <a:pt x="5512276" y="3615878"/>
                  </a:cubicBezTo>
                  <a:cubicBezTo>
                    <a:pt x="5439396" y="3685735"/>
                    <a:pt x="5340548" y="3724980"/>
                    <a:pt x="5237480" y="3724980"/>
                  </a:cubicBezTo>
                  <a:lnTo>
                    <a:pt x="388620" y="3724980"/>
                  </a:lnTo>
                  <a:cubicBezTo>
                    <a:pt x="285552" y="3724980"/>
                    <a:pt x="186705" y="3685735"/>
                    <a:pt x="113824" y="3615878"/>
                  </a:cubicBezTo>
                  <a:cubicBezTo>
                    <a:pt x="40944" y="3546021"/>
                    <a:pt x="0" y="3451275"/>
                    <a:pt x="0" y="3352482"/>
                  </a:cubicBezTo>
                  <a:lnTo>
                    <a:pt x="0" y="372498"/>
                  </a:lnTo>
                  <a:cubicBezTo>
                    <a:pt x="0" y="166773"/>
                    <a:pt x="173991" y="0"/>
                    <a:pt x="3886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5DD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5626100" cy="37630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l" defTabSz="609630" rtl="0" eaLnBrk="1" fontAlgn="auto" latinLnBrk="0" hangingPunct="1">
                <a:lnSpc>
                  <a:spcPts val="111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177979" y="2855087"/>
            <a:ext cx="2683071" cy="238038"/>
            <a:chOff x="0" y="-38100"/>
            <a:chExt cx="5582822" cy="4953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582822" cy="457200"/>
            </a:xfrm>
            <a:custGeom>
              <a:avLst/>
              <a:gdLst/>
              <a:ahLst/>
              <a:cxnLst/>
              <a:rect l="l" t="t" r="r" b="b"/>
              <a:pathLst>
                <a:path w="5582822" h="457200">
                  <a:moveTo>
                    <a:pt x="45368" y="0"/>
                  </a:moveTo>
                  <a:lnTo>
                    <a:pt x="5537454" y="0"/>
                  </a:lnTo>
                  <a:cubicBezTo>
                    <a:pt x="5549486" y="0"/>
                    <a:pt x="5561026" y="4817"/>
                    <a:pt x="5569534" y="13391"/>
                  </a:cubicBezTo>
                  <a:cubicBezTo>
                    <a:pt x="5578042" y="21965"/>
                    <a:pt x="5582822" y="33594"/>
                    <a:pt x="5582822" y="45720"/>
                  </a:cubicBezTo>
                  <a:lnTo>
                    <a:pt x="5582822" y="411480"/>
                  </a:lnTo>
                  <a:cubicBezTo>
                    <a:pt x="5582822" y="423606"/>
                    <a:pt x="5578042" y="435235"/>
                    <a:pt x="5569534" y="443809"/>
                  </a:cubicBezTo>
                  <a:cubicBezTo>
                    <a:pt x="5561026" y="452383"/>
                    <a:pt x="5549486" y="457200"/>
                    <a:pt x="5537454" y="457200"/>
                  </a:cubicBezTo>
                  <a:lnTo>
                    <a:pt x="45368" y="457200"/>
                  </a:lnTo>
                  <a:cubicBezTo>
                    <a:pt x="20312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20312" y="0"/>
                    <a:pt x="45368" y="0"/>
                  </a:cubicBezTo>
                  <a:close/>
                </a:path>
              </a:pathLst>
            </a:custGeom>
            <a:solidFill>
              <a:srgbClr val="2C3E80"/>
            </a:solidFill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5582822" cy="4953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l" defTabSz="609630" rtl="0" eaLnBrk="1" fontAlgn="auto" latinLnBrk="0" hangingPunct="1">
                <a:lnSpc>
                  <a:spcPts val="111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3289300" y="2868740"/>
            <a:ext cx="2571750" cy="230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1866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occhi"/>
                <a:ea typeface="Trocchi"/>
                <a:cs typeface="Trocchi"/>
                <a:sym typeface="Trocchi"/>
              </a:rPr>
              <a:t>Investimento | Retorno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257550" y="3329500"/>
            <a:ext cx="2635250" cy="762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149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R$ 979 mil iniciais + R$ 341 mil/ano de sustentação. </a:t>
            </a:r>
            <a:r>
              <a:rPr kumimoji="0" lang="pt-BR" sz="1200" b="1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Retorno estimado em 2,8 anos pelo método do </a:t>
            </a:r>
            <a:r>
              <a:rPr kumimoji="0" lang="pt-BR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payback</a:t>
            </a:r>
            <a:r>
              <a:rPr kumimoji="0" lang="pt-BR" sz="1200" b="1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 descontado, com VPL de R$ 1,95 MM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6026150" y="2787510"/>
            <a:ext cx="2813050" cy="1526456"/>
            <a:chOff x="0" y="-38100"/>
            <a:chExt cx="5626100" cy="376308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626100" cy="3724980"/>
            </a:xfrm>
            <a:custGeom>
              <a:avLst/>
              <a:gdLst/>
              <a:ahLst/>
              <a:cxnLst/>
              <a:rect l="l" t="t" r="r" b="b"/>
              <a:pathLst>
                <a:path w="5626100" h="3724980">
                  <a:moveTo>
                    <a:pt x="388620" y="0"/>
                  </a:moveTo>
                  <a:lnTo>
                    <a:pt x="5237480" y="0"/>
                  </a:lnTo>
                  <a:cubicBezTo>
                    <a:pt x="5340548" y="0"/>
                    <a:pt x="5439396" y="39245"/>
                    <a:pt x="5512276" y="109102"/>
                  </a:cubicBezTo>
                  <a:cubicBezTo>
                    <a:pt x="5585156" y="178959"/>
                    <a:pt x="5626100" y="273705"/>
                    <a:pt x="5626100" y="372498"/>
                  </a:cubicBezTo>
                  <a:lnTo>
                    <a:pt x="5626100" y="3352482"/>
                  </a:lnTo>
                  <a:cubicBezTo>
                    <a:pt x="5626100" y="3451275"/>
                    <a:pt x="5585156" y="3546021"/>
                    <a:pt x="5512276" y="3615878"/>
                  </a:cubicBezTo>
                  <a:cubicBezTo>
                    <a:pt x="5439396" y="3685735"/>
                    <a:pt x="5340548" y="3724980"/>
                    <a:pt x="5237480" y="3724980"/>
                  </a:cubicBezTo>
                  <a:lnTo>
                    <a:pt x="388620" y="3724980"/>
                  </a:lnTo>
                  <a:cubicBezTo>
                    <a:pt x="285552" y="3724980"/>
                    <a:pt x="186705" y="3685735"/>
                    <a:pt x="113824" y="3615878"/>
                  </a:cubicBezTo>
                  <a:cubicBezTo>
                    <a:pt x="40944" y="3546021"/>
                    <a:pt x="0" y="3451275"/>
                    <a:pt x="0" y="3352482"/>
                  </a:cubicBezTo>
                  <a:lnTo>
                    <a:pt x="0" y="372498"/>
                  </a:lnTo>
                  <a:cubicBezTo>
                    <a:pt x="0" y="166773"/>
                    <a:pt x="173991" y="0"/>
                    <a:pt x="3886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5DD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5626100" cy="37630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l" defTabSz="609630" rtl="0" eaLnBrk="1" fontAlgn="auto" latinLnBrk="0" hangingPunct="1">
                <a:lnSpc>
                  <a:spcPts val="111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70209" y="2861275"/>
            <a:ext cx="2713331" cy="240722"/>
            <a:chOff x="0" y="-38100"/>
            <a:chExt cx="5582822" cy="4953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582822" cy="457200"/>
            </a:xfrm>
            <a:custGeom>
              <a:avLst/>
              <a:gdLst/>
              <a:ahLst/>
              <a:cxnLst/>
              <a:rect l="l" t="t" r="r" b="b"/>
              <a:pathLst>
                <a:path w="5582822" h="457200">
                  <a:moveTo>
                    <a:pt x="45368" y="0"/>
                  </a:moveTo>
                  <a:lnTo>
                    <a:pt x="5537454" y="0"/>
                  </a:lnTo>
                  <a:cubicBezTo>
                    <a:pt x="5549486" y="0"/>
                    <a:pt x="5561026" y="4817"/>
                    <a:pt x="5569534" y="13391"/>
                  </a:cubicBezTo>
                  <a:cubicBezTo>
                    <a:pt x="5578042" y="21965"/>
                    <a:pt x="5582822" y="33594"/>
                    <a:pt x="5582822" y="45720"/>
                  </a:cubicBezTo>
                  <a:lnTo>
                    <a:pt x="5582822" y="411480"/>
                  </a:lnTo>
                  <a:cubicBezTo>
                    <a:pt x="5582822" y="423606"/>
                    <a:pt x="5578042" y="435235"/>
                    <a:pt x="5569534" y="443809"/>
                  </a:cubicBezTo>
                  <a:cubicBezTo>
                    <a:pt x="5561026" y="452383"/>
                    <a:pt x="5549486" y="457200"/>
                    <a:pt x="5537454" y="457200"/>
                  </a:cubicBezTo>
                  <a:lnTo>
                    <a:pt x="45368" y="457200"/>
                  </a:lnTo>
                  <a:cubicBezTo>
                    <a:pt x="20312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20312" y="0"/>
                    <a:pt x="45368" y="0"/>
                  </a:cubicBezTo>
                  <a:close/>
                </a:path>
              </a:pathLst>
            </a:custGeom>
            <a:solidFill>
              <a:srgbClr val="2C3E80"/>
            </a:solidFill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5582822" cy="4953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l" defTabSz="609630" rtl="0" eaLnBrk="1" fontAlgn="auto" latinLnBrk="0" hangingPunct="1">
                <a:lnSpc>
                  <a:spcPts val="111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6203950" y="2868740"/>
            <a:ext cx="2635250" cy="230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1866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occhi"/>
                <a:ea typeface="Trocchi"/>
                <a:cs typeface="Trocchi"/>
                <a:sym typeface="Trocchi"/>
              </a:rPr>
              <a:t>Prazo /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occhi"/>
                <a:ea typeface="Trocchi"/>
                <a:cs typeface="Trocchi"/>
                <a:sym typeface="Trocchi"/>
              </a:rPr>
              <a:t>Roadmap</a:t>
            </a: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occhi"/>
              <a:ea typeface="Trocchi"/>
              <a:cs typeface="Trocchi"/>
              <a:sym typeface="Trocchi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6124322" y="3417439"/>
            <a:ext cx="2635250" cy="56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149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Fase 1: Descoberta (1 mês), Fase 2: Desenvolvimento (8 meses), Fase 3: Piloto (1 mês), Fase 4: </a:t>
            </a:r>
            <a:r>
              <a:rPr kumimoji="0" lang="pt-B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Rollout</a:t>
            </a: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 (2 meses)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8940800" y="2787510"/>
            <a:ext cx="2813050" cy="1526456"/>
            <a:chOff x="0" y="-38100"/>
            <a:chExt cx="5626100" cy="376308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626100" cy="3724980"/>
            </a:xfrm>
            <a:custGeom>
              <a:avLst/>
              <a:gdLst/>
              <a:ahLst/>
              <a:cxnLst/>
              <a:rect l="l" t="t" r="r" b="b"/>
              <a:pathLst>
                <a:path w="5626100" h="3724980">
                  <a:moveTo>
                    <a:pt x="388620" y="0"/>
                  </a:moveTo>
                  <a:lnTo>
                    <a:pt x="5237480" y="0"/>
                  </a:lnTo>
                  <a:cubicBezTo>
                    <a:pt x="5340548" y="0"/>
                    <a:pt x="5439396" y="39245"/>
                    <a:pt x="5512276" y="109102"/>
                  </a:cubicBezTo>
                  <a:cubicBezTo>
                    <a:pt x="5585156" y="178959"/>
                    <a:pt x="5626100" y="273705"/>
                    <a:pt x="5626100" y="372498"/>
                  </a:cubicBezTo>
                  <a:lnTo>
                    <a:pt x="5626100" y="3352482"/>
                  </a:lnTo>
                  <a:cubicBezTo>
                    <a:pt x="5626100" y="3451275"/>
                    <a:pt x="5585156" y="3546021"/>
                    <a:pt x="5512276" y="3615878"/>
                  </a:cubicBezTo>
                  <a:cubicBezTo>
                    <a:pt x="5439396" y="3685735"/>
                    <a:pt x="5340548" y="3724980"/>
                    <a:pt x="5237480" y="3724980"/>
                  </a:cubicBezTo>
                  <a:lnTo>
                    <a:pt x="388620" y="3724980"/>
                  </a:lnTo>
                  <a:cubicBezTo>
                    <a:pt x="285552" y="3724980"/>
                    <a:pt x="186705" y="3685735"/>
                    <a:pt x="113824" y="3615878"/>
                  </a:cubicBezTo>
                  <a:cubicBezTo>
                    <a:pt x="40944" y="3546021"/>
                    <a:pt x="0" y="3451275"/>
                    <a:pt x="0" y="3352482"/>
                  </a:cubicBezTo>
                  <a:lnTo>
                    <a:pt x="0" y="372498"/>
                  </a:lnTo>
                  <a:cubicBezTo>
                    <a:pt x="0" y="166773"/>
                    <a:pt x="173991" y="0"/>
                    <a:pt x="3886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5DD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5626100" cy="37630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l" defTabSz="609630" rtl="0" eaLnBrk="1" fontAlgn="auto" latinLnBrk="0" hangingPunct="1">
                <a:lnSpc>
                  <a:spcPts val="111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962439" y="2861275"/>
            <a:ext cx="2713331" cy="240722"/>
            <a:chOff x="0" y="-38100"/>
            <a:chExt cx="5582822" cy="4953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5582822" cy="457200"/>
            </a:xfrm>
            <a:custGeom>
              <a:avLst/>
              <a:gdLst/>
              <a:ahLst/>
              <a:cxnLst/>
              <a:rect l="l" t="t" r="r" b="b"/>
              <a:pathLst>
                <a:path w="5582822" h="457200">
                  <a:moveTo>
                    <a:pt x="45368" y="0"/>
                  </a:moveTo>
                  <a:lnTo>
                    <a:pt x="5537454" y="0"/>
                  </a:lnTo>
                  <a:cubicBezTo>
                    <a:pt x="5549486" y="0"/>
                    <a:pt x="5561026" y="4817"/>
                    <a:pt x="5569534" y="13391"/>
                  </a:cubicBezTo>
                  <a:cubicBezTo>
                    <a:pt x="5578042" y="21965"/>
                    <a:pt x="5582822" y="33594"/>
                    <a:pt x="5582822" y="45720"/>
                  </a:cubicBezTo>
                  <a:lnTo>
                    <a:pt x="5582822" y="411480"/>
                  </a:lnTo>
                  <a:cubicBezTo>
                    <a:pt x="5582822" y="423606"/>
                    <a:pt x="5578042" y="435235"/>
                    <a:pt x="5569534" y="443809"/>
                  </a:cubicBezTo>
                  <a:cubicBezTo>
                    <a:pt x="5561026" y="452383"/>
                    <a:pt x="5549486" y="457200"/>
                    <a:pt x="5537454" y="457200"/>
                  </a:cubicBezTo>
                  <a:lnTo>
                    <a:pt x="45368" y="457200"/>
                  </a:lnTo>
                  <a:cubicBezTo>
                    <a:pt x="20312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20312" y="0"/>
                    <a:pt x="45368" y="0"/>
                  </a:cubicBezTo>
                  <a:close/>
                </a:path>
              </a:pathLst>
            </a:custGeom>
            <a:solidFill>
              <a:srgbClr val="2C3E80"/>
            </a:solidFill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5582822" cy="4953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l" defTabSz="609630" rtl="0" eaLnBrk="1" fontAlgn="auto" latinLnBrk="0" hangingPunct="1">
                <a:lnSpc>
                  <a:spcPts val="111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9040520" y="2872991"/>
            <a:ext cx="2635250" cy="230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1866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occhi"/>
                <a:ea typeface="Trocchi"/>
                <a:cs typeface="Trocchi"/>
                <a:sym typeface="Trocchi"/>
              </a:rPr>
              <a:t>Riscos e Mitigações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994189" y="3417439"/>
            <a:ext cx="2635250" cy="56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149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Integração com legado: prova de conceito antecipada. Adoção baixa: programa de </a:t>
            </a:r>
            <a:r>
              <a:rPr kumimoji="0" lang="pt-B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change</a:t>
            </a: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 management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196850" y="4552450"/>
            <a:ext cx="2813050" cy="1526456"/>
            <a:chOff x="0" y="-38100"/>
            <a:chExt cx="5626100" cy="376308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626100" cy="3724980"/>
            </a:xfrm>
            <a:custGeom>
              <a:avLst/>
              <a:gdLst/>
              <a:ahLst/>
              <a:cxnLst/>
              <a:rect l="l" t="t" r="r" b="b"/>
              <a:pathLst>
                <a:path w="5626100" h="3724980">
                  <a:moveTo>
                    <a:pt x="388620" y="0"/>
                  </a:moveTo>
                  <a:lnTo>
                    <a:pt x="5237480" y="0"/>
                  </a:lnTo>
                  <a:cubicBezTo>
                    <a:pt x="5340548" y="0"/>
                    <a:pt x="5439396" y="39245"/>
                    <a:pt x="5512276" y="109102"/>
                  </a:cubicBezTo>
                  <a:cubicBezTo>
                    <a:pt x="5585156" y="178959"/>
                    <a:pt x="5626100" y="273705"/>
                    <a:pt x="5626100" y="372498"/>
                  </a:cubicBezTo>
                  <a:lnTo>
                    <a:pt x="5626100" y="3352482"/>
                  </a:lnTo>
                  <a:cubicBezTo>
                    <a:pt x="5626100" y="3451275"/>
                    <a:pt x="5585156" y="3546021"/>
                    <a:pt x="5512276" y="3615878"/>
                  </a:cubicBezTo>
                  <a:cubicBezTo>
                    <a:pt x="5439396" y="3685735"/>
                    <a:pt x="5340548" y="3724980"/>
                    <a:pt x="5237480" y="3724980"/>
                  </a:cubicBezTo>
                  <a:lnTo>
                    <a:pt x="388620" y="3724980"/>
                  </a:lnTo>
                  <a:cubicBezTo>
                    <a:pt x="285552" y="3724980"/>
                    <a:pt x="186705" y="3685735"/>
                    <a:pt x="113824" y="3615878"/>
                  </a:cubicBezTo>
                  <a:cubicBezTo>
                    <a:pt x="40944" y="3546021"/>
                    <a:pt x="0" y="3451275"/>
                    <a:pt x="0" y="3352482"/>
                  </a:cubicBezTo>
                  <a:lnTo>
                    <a:pt x="0" y="372498"/>
                  </a:lnTo>
                  <a:cubicBezTo>
                    <a:pt x="0" y="166773"/>
                    <a:pt x="173991" y="0"/>
                    <a:pt x="3886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5DD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5626100" cy="37630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l" defTabSz="609630" rtl="0" eaLnBrk="1" fontAlgn="auto" latinLnBrk="0" hangingPunct="1">
                <a:lnSpc>
                  <a:spcPts val="111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285750" y="4714022"/>
            <a:ext cx="2679700" cy="237739"/>
            <a:chOff x="0" y="-38100"/>
            <a:chExt cx="5582822" cy="4953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5582822" cy="457200"/>
            </a:xfrm>
            <a:custGeom>
              <a:avLst/>
              <a:gdLst/>
              <a:ahLst/>
              <a:cxnLst/>
              <a:rect l="l" t="t" r="r" b="b"/>
              <a:pathLst>
                <a:path w="5582822" h="457200">
                  <a:moveTo>
                    <a:pt x="45368" y="0"/>
                  </a:moveTo>
                  <a:lnTo>
                    <a:pt x="5537454" y="0"/>
                  </a:lnTo>
                  <a:cubicBezTo>
                    <a:pt x="5549486" y="0"/>
                    <a:pt x="5561026" y="4817"/>
                    <a:pt x="5569534" y="13391"/>
                  </a:cubicBezTo>
                  <a:cubicBezTo>
                    <a:pt x="5578042" y="21965"/>
                    <a:pt x="5582822" y="33594"/>
                    <a:pt x="5582822" y="45720"/>
                  </a:cubicBezTo>
                  <a:lnTo>
                    <a:pt x="5582822" y="411480"/>
                  </a:lnTo>
                  <a:cubicBezTo>
                    <a:pt x="5582822" y="423606"/>
                    <a:pt x="5578042" y="435235"/>
                    <a:pt x="5569534" y="443809"/>
                  </a:cubicBezTo>
                  <a:cubicBezTo>
                    <a:pt x="5561026" y="452383"/>
                    <a:pt x="5549486" y="457200"/>
                    <a:pt x="5537454" y="457200"/>
                  </a:cubicBezTo>
                  <a:lnTo>
                    <a:pt x="45368" y="457200"/>
                  </a:lnTo>
                  <a:cubicBezTo>
                    <a:pt x="20312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20312" y="0"/>
                    <a:pt x="45368" y="0"/>
                  </a:cubicBezTo>
                  <a:close/>
                </a:path>
              </a:pathLst>
            </a:custGeom>
            <a:solidFill>
              <a:srgbClr val="2C3E80"/>
            </a:solidFill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5582822" cy="4953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l" defTabSz="609630" rtl="0" eaLnBrk="1" fontAlgn="auto" latinLnBrk="0" hangingPunct="1">
                <a:lnSpc>
                  <a:spcPts val="111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374650" y="4718504"/>
            <a:ext cx="2635250" cy="230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1866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occhi"/>
                <a:ea typeface="Trocchi"/>
                <a:cs typeface="Trocchi"/>
                <a:sym typeface="Trocchi"/>
              </a:rPr>
              <a:t>Dependências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17500" y="5238771"/>
            <a:ext cx="2635250" cy="56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149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Equipe de infraestrutura para ambientes, time jurídico para termos digitais, fornecedor de assinatura eletrônica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3111500" y="4552450"/>
            <a:ext cx="2813050" cy="1526456"/>
            <a:chOff x="0" y="-38100"/>
            <a:chExt cx="5626100" cy="376308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5626100" cy="3724980"/>
            </a:xfrm>
            <a:custGeom>
              <a:avLst/>
              <a:gdLst/>
              <a:ahLst/>
              <a:cxnLst/>
              <a:rect l="l" t="t" r="r" b="b"/>
              <a:pathLst>
                <a:path w="5626100" h="3724980">
                  <a:moveTo>
                    <a:pt x="388620" y="0"/>
                  </a:moveTo>
                  <a:lnTo>
                    <a:pt x="5237480" y="0"/>
                  </a:lnTo>
                  <a:cubicBezTo>
                    <a:pt x="5340548" y="0"/>
                    <a:pt x="5439396" y="39245"/>
                    <a:pt x="5512276" y="109102"/>
                  </a:cubicBezTo>
                  <a:cubicBezTo>
                    <a:pt x="5585156" y="178959"/>
                    <a:pt x="5626100" y="273705"/>
                    <a:pt x="5626100" y="372498"/>
                  </a:cubicBezTo>
                  <a:lnTo>
                    <a:pt x="5626100" y="3352482"/>
                  </a:lnTo>
                  <a:cubicBezTo>
                    <a:pt x="5626100" y="3451275"/>
                    <a:pt x="5585156" y="3546021"/>
                    <a:pt x="5512276" y="3615878"/>
                  </a:cubicBezTo>
                  <a:cubicBezTo>
                    <a:pt x="5439396" y="3685735"/>
                    <a:pt x="5340548" y="3724980"/>
                    <a:pt x="5237480" y="3724980"/>
                  </a:cubicBezTo>
                  <a:lnTo>
                    <a:pt x="388620" y="3724980"/>
                  </a:lnTo>
                  <a:cubicBezTo>
                    <a:pt x="285552" y="3724980"/>
                    <a:pt x="186705" y="3685735"/>
                    <a:pt x="113824" y="3615878"/>
                  </a:cubicBezTo>
                  <a:cubicBezTo>
                    <a:pt x="40944" y="3546021"/>
                    <a:pt x="0" y="3451275"/>
                    <a:pt x="0" y="3352482"/>
                  </a:cubicBezTo>
                  <a:lnTo>
                    <a:pt x="0" y="372498"/>
                  </a:lnTo>
                  <a:cubicBezTo>
                    <a:pt x="0" y="166773"/>
                    <a:pt x="173991" y="0"/>
                    <a:pt x="3886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5DD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5626100" cy="37630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l" defTabSz="609630" rtl="0" eaLnBrk="1" fontAlgn="auto" latinLnBrk="0" hangingPunct="1">
                <a:lnSpc>
                  <a:spcPts val="111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3177979" y="4704421"/>
            <a:ext cx="2683071" cy="243615"/>
            <a:chOff x="0" y="-38100"/>
            <a:chExt cx="5455041" cy="49530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5455041" cy="457200"/>
            </a:xfrm>
            <a:custGeom>
              <a:avLst/>
              <a:gdLst/>
              <a:ahLst/>
              <a:cxnLst/>
              <a:rect l="l" t="t" r="r" b="b"/>
              <a:pathLst>
                <a:path w="5455041" h="457200">
                  <a:moveTo>
                    <a:pt x="44330" y="0"/>
                  </a:moveTo>
                  <a:lnTo>
                    <a:pt x="5410711" y="0"/>
                  </a:lnTo>
                  <a:cubicBezTo>
                    <a:pt x="5422468" y="0"/>
                    <a:pt x="5433743" y="4817"/>
                    <a:pt x="5442057" y="13391"/>
                  </a:cubicBezTo>
                  <a:cubicBezTo>
                    <a:pt x="5450370" y="21965"/>
                    <a:pt x="5455041" y="33594"/>
                    <a:pt x="5455041" y="45720"/>
                  </a:cubicBezTo>
                  <a:lnTo>
                    <a:pt x="5455041" y="411480"/>
                  </a:lnTo>
                  <a:cubicBezTo>
                    <a:pt x="5455041" y="423606"/>
                    <a:pt x="5450370" y="435235"/>
                    <a:pt x="5442057" y="443809"/>
                  </a:cubicBezTo>
                  <a:cubicBezTo>
                    <a:pt x="5433743" y="452383"/>
                    <a:pt x="5422468" y="457200"/>
                    <a:pt x="5410711" y="457200"/>
                  </a:cubicBezTo>
                  <a:lnTo>
                    <a:pt x="44330" y="457200"/>
                  </a:lnTo>
                  <a:cubicBezTo>
                    <a:pt x="19847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19847" y="0"/>
                    <a:pt x="44330" y="0"/>
                  </a:cubicBezTo>
                  <a:close/>
                </a:path>
              </a:pathLst>
            </a:custGeom>
            <a:solidFill>
              <a:srgbClr val="2C3E80"/>
            </a:solidFill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5455041" cy="4953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l" defTabSz="609630" rtl="0" eaLnBrk="1" fontAlgn="auto" latinLnBrk="0" hangingPunct="1">
                <a:lnSpc>
                  <a:spcPts val="111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3289300" y="4718504"/>
            <a:ext cx="2635250" cy="230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1866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occhi"/>
                <a:ea typeface="Trocchi"/>
                <a:cs typeface="Trocchi"/>
                <a:sym typeface="Trocchi"/>
              </a:rPr>
              <a:t>Stakeholders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3289300" y="5272700"/>
            <a:ext cx="2635250" cy="56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149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Patrocinador: Diretor de Operações. Responsável: Gerente de Projetos. Áreas impactadas: Comercial, TI</a:t>
            </a:r>
          </a:p>
        </p:txBody>
      </p:sp>
      <p:grpSp>
        <p:nvGrpSpPr>
          <p:cNvPr id="81" name="Group 81"/>
          <p:cNvGrpSpPr/>
          <p:nvPr/>
        </p:nvGrpSpPr>
        <p:grpSpPr>
          <a:xfrm>
            <a:off x="6026150" y="4552450"/>
            <a:ext cx="2813050" cy="1526456"/>
            <a:chOff x="0" y="-38100"/>
            <a:chExt cx="5626100" cy="376308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5626100" cy="3724980"/>
            </a:xfrm>
            <a:custGeom>
              <a:avLst/>
              <a:gdLst/>
              <a:ahLst/>
              <a:cxnLst/>
              <a:rect l="l" t="t" r="r" b="b"/>
              <a:pathLst>
                <a:path w="5626100" h="3724980">
                  <a:moveTo>
                    <a:pt x="388620" y="0"/>
                  </a:moveTo>
                  <a:lnTo>
                    <a:pt x="5237480" y="0"/>
                  </a:lnTo>
                  <a:cubicBezTo>
                    <a:pt x="5340548" y="0"/>
                    <a:pt x="5439396" y="39245"/>
                    <a:pt x="5512276" y="109102"/>
                  </a:cubicBezTo>
                  <a:cubicBezTo>
                    <a:pt x="5585156" y="178959"/>
                    <a:pt x="5626100" y="273705"/>
                    <a:pt x="5626100" y="372498"/>
                  </a:cubicBezTo>
                  <a:lnTo>
                    <a:pt x="5626100" y="3352482"/>
                  </a:lnTo>
                  <a:cubicBezTo>
                    <a:pt x="5626100" y="3451275"/>
                    <a:pt x="5585156" y="3546021"/>
                    <a:pt x="5512276" y="3615878"/>
                  </a:cubicBezTo>
                  <a:cubicBezTo>
                    <a:pt x="5439396" y="3685735"/>
                    <a:pt x="5340548" y="3724980"/>
                    <a:pt x="5237480" y="3724980"/>
                  </a:cubicBezTo>
                  <a:lnTo>
                    <a:pt x="388620" y="3724980"/>
                  </a:lnTo>
                  <a:cubicBezTo>
                    <a:pt x="285552" y="3724980"/>
                    <a:pt x="186705" y="3685735"/>
                    <a:pt x="113824" y="3615878"/>
                  </a:cubicBezTo>
                  <a:cubicBezTo>
                    <a:pt x="40944" y="3546021"/>
                    <a:pt x="0" y="3451275"/>
                    <a:pt x="0" y="3352482"/>
                  </a:cubicBezTo>
                  <a:lnTo>
                    <a:pt x="0" y="372498"/>
                  </a:lnTo>
                  <a:cubicBezTo>
                    <a:pt x="0" y="166773"/>
                    <a:pt x="173991" y="0"/>
                    <a:pt x="3886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5DD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5626100" cy="37630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l" defTabSz="609630" rtl="0" eaLnBrk="1" fontAlgn="auto" latinLnBrk="0" hangingPunct="1">
                <a:lnSpc>
                  <a:spcPts val="111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070209" y="4713164"/>
            <a:ext cx="2689363" cy="238597"/>
            <a:chOff x="0" y="-38100"/>
            <a:chExt cx="5582822" cy="49530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5582822" cy="457200"/>
            </a:xfrm>
            <a:custGeom>
              <a:avLst/>
              <a:gdLst/>
              <a:ahLst/>
              <a:cxnLst/>
              <a:rect l="l" t="t" r="r" b="b"/>
              <a:pathLst>
                <a:path w="5582822" h="457200">
                  <a:moveTo>
                    <a:pt x="45368" y="0"/>
                  </a:moveTo>
                  <a:lnTo>
                    <a:pt x="5537454" y="0"/>
                  </a:lnTo>
                  <a:cubicBezTo>
                    <a:pt x="5549486" y="0"/>
                    <a:pt x="5561026" y="4817"/>
                    <a:pt x="5569534" y="13391"/>
                  </a:cubicBezTo>
                  <a:cubicBezTo>
                    <a:pt x="5578042" y="21965"/>
                    <a:pt x="5582822" y="33594"/>
                    <a:pt x="5582822" y="45720"/>
                  </a:cubicBezTo>
                  <a:lnTo>
                    <a:pt x="5582822" y="411480"/>
                  </a:lnTo>
                  <a:cubicBezTo>
                    <a:pt x="5582822" y="423606"/>
                    <a:pt x="5578042" y="435235"/>
                    <a:pt x="5569534" y="443809"/>
                  </a:cubicBezTo>
                  <a:cubicBezTo>
                    <a:pt x="5561026" y="452383"/>
                    <a:pt x="5549486" y="457200"/>
                    <a:pt x="5537454" y="457200"/>
                  </a:cubicBezTo>
                  <a:lnTo>
                    <a:pt x="45368" y="457200"/>
                  </a:lnTo>
                  <a:cubicBezTo>
                    <a:pt x="20312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20312" y="0"/>
                    <a:pt x="45368" y="0"/>
                  </a:cubicBezTo>
                  <a:close/>
                </a:path>
              </a:pathLst>
            </a:custGeom>
            <a:solidFill>
              <a:srgbClr val="2C3E80"/>
            </a:solidFill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38100"/>
              <a:ext cx="5582822" cy="4953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l" defTabSz="609630" rtl="0" eaLnBrk="1" fontAlgn="auto" latinLnBrk="0" hangingPunct="1">
                <a:lnSpc>
                  <a:spcPts val="111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6203950" y="4718504"/>
            <a:ext cx="2555622" cy="230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1866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occhi"/>
                <a:ea typeface="Trocchi"/>
                <a:cs typeface="Trocchi"/>
                <a:sym typeface="Trocchi"/>
              </a:rPr>
              <a:t>Status Atual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6140999" y="5272700"/>
            <a:ext cx="2635250" cy="56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149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Descoberta concluída, requisitos validados com usuários, arquitetura aprovada pelo comitê técnico</a:t>
            </a:r>
          </a:p>
        </p:txBody>
      </p:sp>
      <p:grpSp>
        <p:nvGrpSpPr>
          <p:cNvPr id="89" name="Group 89"/>
          <p:cNvGrpSpPr/>
          <p:nvPr/>
        </p:nvGrpSpPr>
        <p:grpSpPr>
          <a:xfrm>
            <a:off x="8940800" y="4552450"/>
            <a:ext cx="2813050" cy="1526456"/>
            <a:chOff x="0" y="-38100"/>
            <a:chExt cx="5626100" cy="376308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5626100" cy="3724980"/>
            </a:xfrm>
            <a:custGeom>
              <a:avLst/>
              <a:gdLst/>
              <a:ahLst/>
              <a:cxnLst/>
              <a:rect l="l" t="t" r="r" b="b"/>
              <a:pathLst>
                <a:path w="5626100" h="3724980">
                  <a:moveTo>
                    <a:pt x="388620" y="0"/>
                  </a:moveTo>
                  <a:lnTo>
                    <a:pt x="5237480" y="0"/>
                  </a:lnTo>
                  <a:cubicBezTo>
                    <a:pt x="5340548" y="0"/>
                    <a:pt x="5439396" y="39245"/>
                    <a:pt x="5512276" y="109102"/>
                  </a:cubicBezTo>
                  <a:cubicBezTo>
                    <a:pt x="5585156" y="178959"/>
                    <a:pt x="5626100" y="273705"/>
                    <a:pt x="5626100" y="372498"/>
                  </a:cubicBezTo>
                  <a:lnTo>
                    <a:pt x="5626100" y="3352482"/>
                  </a:lnTo>
                  <a:cubicBezTo>
                    <a:pt x="5626100" y="3451275"/>
                    <a:pt x="5585156" y="3546021"/>
                    <a:pt x="5512276" y="3615878"/>
                  </a:cubicBezTo>
                  <a:cubicBezTo>
                    <a:pt x="5439396" y="3685735"/>
                    <a:pt x="5340548" y="3724980"/>
                    <a:pt x="5237480" y="3724980"/>
                  </a:cubicBezTo>
                  <a:lnTo>
                    <a:pt x="388620" y="3724980"/>
                  </a:lnTo>
                  <a:cubicBezTo>
                    <a:pt x="285552" y="3724980"/>
                    <a:pt x="186705" y="3685735"/>
                    <a:pt x="113824" y="3615878"/>
                  </a:cubicBezTo>
                  <a:cubicBezTo>
                    <a:pt x="40944" y="3546021"/>
                    <a:pt x="0" y="3451275"/>
                    <a:pt x="0" y="3352482"/>
                  </a:cubicBezTo>
                  <a:lnTo>
                    <a:pt x="0" y="372498"/>
                  </a:lnTo>
                  <a:cubicBezTo>
                    <a:pt x="0" y="166773"/>
                    <a:pt x="173991" y="0"/>
                    <a:pt x="3886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5DD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5626100" cy="37630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l" defTabSz="609630" rtl="0" eaLnBrk="1" fontAlgn="auto" latinLnBrk="0" hangingPunct="1">
                <a:lnSpc>
                  <a:spcPts val="111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9029700" y="4718811"/>
            <a:ext cx="2646069" cy="232950"/>
            <a:chOff x="0" y="-38100"/>
            <a:chExt cx="5626100" cy="49530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5626100" cy="457200"/>
            </a:xfrm>
            <a:custGeom>
              <a:avLst/>
              <a:gdLst/>
              <a:ahLst/>
              <a:cxnLst/>
              <a:rect l="l" t="t" r="r" b="b"/>
              <a:pathLst>
                <a:path w="5626100" h="457200">
                  <a:moveTo>
                    <a:pt x="45720" y="0"/>
                  </a:moveTo>
                  <a:lnTo>
                    <a:pt x="5580380" y="0"/>
                  </a:lnTo>
                  <a:cubicBezTo>
                    <a:pt x="5592506" y="0"/>
                    <a:pt x="5604135" y="4817"/>
                    <a:pt x="5612709" y="13391"/>
                  </a:cubicBezTo>
                  <a:cubicBezTo>
                    <a:pt x="5621283" y="21965"/>
                    <a:pt x="5626100" y="33594"/>
                    <a:pt x="5626100" y="45720"/>
                  </a:cubicBezTo>
                  <a:lnTo>
                    <a:pt x="5626100" y="411480"/>
                  </a:lnTo>
                  <a:cubicBezTo>
                    <a:pt x="5626100" y="423606"/>
                    <a:pt x="5621283" y="435235"/>
                    <a:pt x="5612709" y="443809"/>
                  </a:cubicBezTo>
                  <a:cubicBezTo>
                    <a:pt x="5604135" y="452383"/>
                    <a:pt x="5592506" y="457200"/>
                    <a:pt x="5580380" y="457200"/>
                  </a:cubicBezTo>
                  <a:lnTo>
                    <a:pt x="45720" y="457200"/>
                  </a:lnTo>
                  <a:cubicBezTo>
                    <a:pt x="20470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2C3E80"/>
            </a:solidFill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5626100" cy="4953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l" defTabSz="609630" rtl="0" eaLnBrk="1" fontAlgn="auto" latinLnBrk="0" hangingPunct="1">
                <a:lnSpc>
                  <a:spcPts val="111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5" name="TextBox 95"/>
          <p:cNvSpPr txBox="1"/>
          <p:nvPr/>
        </p:nvSpPr>
        <p:spPr>
          <a:xfrm>
            <a:off x="9118600" y="4718504"/>
            <a:ext cx="2635250" cy="230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1866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occhi"/>
                <a:ea typeface="Trocchi"/>
                <a:cs typeface="Trocchi"/>
                <a:sym typeface="Trocchi"/>
              </a:rPr>
              <a:t>Decisão Solicitada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9061450" y="5272700"/>
            <a:ext cx="2635250" cy="377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149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Aprovação do investimento e alocação da equipe para início em 2027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425450" y="991031"/>
            <a:ext cx="2616200" cy="230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1866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occhi"/>
                <a:ea typeface="Trocchi"/>
                <a:cs typeface="Trocchi"/>
                <a:sym typeface="Trocchi"/>
              </a:rPr>
              <a:t>Contexto</a:t>
            </a: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C126FC2E-DA18-2A1D-E1D5-B5FA76F5F8E6}"/>
              </a:ext>
            </a:extLst>
          </p:cNvPr>
          <p:cNvSpPr txBox="1"/>
          <p:nvPr/>
        </p:nvSpPr>
        <p:spPr>
          <a:xfrm flipH="1">
            <a:off x="594360" y="548640"/>
            <a:ext cx="10058400" cy="5029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b="1">
                <a:solidFill>
                  <a:srgbClr val="0E2841"/>
                </a:solidFill>
                <a:latin typeface="Aptos Display"/>
                <a:ea typeface="Calibri"/>
                <a:cs typeface="Calibri"/>
              </a:rPr>
              <a:t>Os elementos importantes | Exemplo</a:t>
            </a:r>
            <a:endParaRPr kumimoji="0" lang="pt-BR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ova"/>
              <a:ea typeface="Calibri"/>
              <a:cs typeface="Calibri"/>
            </a:endParaRPr>
          </a:p>
        </p:txBody>
      </p:sp>
      <p:sp>
        <p:nvSpPr>
          <p:cNvPr id="100" name="Text 104">
            <a:extLst>
              <a:ext uri="{FF2B5EF4-FFF2-40B4-BE49-F238E27FC236}">
                <a16:creationId xmlns:a16="http://schemas.microsoft.com/office/drawing/2014/main" id="{86246C21-50A2-CBFF-946B-C4CF7ABF38BB}"/>
              </a:ext>
            </a:extLst>
          </p:cNvPr>
          <p:cNvSpPr/>
          <p:nvPr/>
        </p:nvSpPr>
        <p:spPr>
          <a:xfrm>
            <a:off x="284907" y="6199632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>
                <a:solidFill>
                  <a:srgbClr val="1A2744"/>
                </a:solidFill>
                <a:latin typeface="Aptos Display" pitchFamily="34" charset="0"/>
              </a:rPr>
              <a:t>A arte é colocar todas essas informações de maneira simples</a:t>
            </a:r>
            <a:endParaRPr lang="pt-BR" sz="1400" noProof="0"/>
          </a:p>
        </p:txBody>
      </p:sp>
      <p:pic>
        <p:nvPicPr>
          <p:cNvPr id="102" name="Logo Cla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9636" y="5961888"/>
            <a:ext cx="945102" cy="852854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594360" y="310896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C00000"/>
                </a:solidFill>
                <a:latin typeface="Aptos"/>
              </a:rPr>
              <a:t>EXEMPLO APLICADO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>
                <a:solidFill>
                  <a:srgbClr val="0E2841"/>
                </a:solidFill>
                <a:latin typeface="Aptos Display"/>
              </a:rPr>
              <a:t>10 minutos, cerca de 8 slides</a:t>
            </a:r>
            <a:endParaRPr sz="3200" b="1" i="0">
              <a:solidFill>
                <a:srgbClr val="C00000"/>
              </a:solidFill>
              <a:latin typeface="Arial Nov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00" b="0" i="0">
                <a:solidFill>
                  <a:srgbClr val="475569"/>
                </a:solidFill>
                <a:latin typeface="Aptos"/>
              </a:rPr>
              <a:t>O tempo define o tamanho da apresentação</a:t>
            </a:r>
            <a:endParaRPr sz="1500" b="0" i="0">
              <a:solidFill>
                <a:srgbClr val="2C3E80"/>
              </a:solidFill>
              <a:latin typeface="Trocch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106070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0" i="0">
                <a:solidFill>
                  <a:srgbClr val="475569"/>
                </a:solidFill>
                <a:latin typeface="Arimo"/>
              </a:rPr>
              <a:t>Uma apresentação de projeto deve caber em até 10 minutos de fala, deixando o restante da reunião para discussão e decisão. A uma média de 1 a 1,5 minuto por slide, isso significa cerca de 8 slides de conteúdo — o detalhamento vai para os anexos.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" y="2514600"/>
            <a:ext cx="539496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0896" y="2651760"/>
            <a:ext cx="5175504" cy="301752"/>
          </a:xfrm>
          <a:prstGeom prst="roundRect">
            <a:avLst>
              <a:gd name="adj" fmla="val 8000"/>
            </a:avLst>
          </a:prstGeom>
          <a:solidFill>
            <a:srgbClr val="2C3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>
                <a:solidFill>
                  <a:srgbClr val="FFFFFF"/>
                </a:solidFill>
                <a:latin typeface="Trocchi"/>
              </a:rPr>
              <a:t>Roteiro sugerido em 8 slides</a:t>
            </a:r>
            <a:endParaRPr sz="1400">
              <a:solidFill>
                <a:srgbClr val="FFFFFF"/>
              </a:solidFill>
              <a:latin typeface="Trocch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2336" y="3154680"/>
            <a:ext cx="5029200" cy="1928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475569"/>
                </a:solidFill>
                <a:latin typeface="Arimo"/>
              </a:rPr>
              <a:t>1. Capa e objetivo da reunião — 30s</a:t>
            </a:r>
          </a:p>
          <a:p>
            <a:pPr>
              <a:spcAft>
                <a:spcPts val="400"/>
              </a:spcAft>
            </a:pPr>
            <a:r>
              <a:rPr lang="pt-BR" sz="1200">
                <a:solidFill>
                  <a:srgbClr val="475569"/>
                </a:solidFill>
                <a:latin typeface="Arimo"/>
              </a:rPr>
              <a:t>2. Contexto: quem somos e do que se trata — 1 min</a:t>
            </a:r>
          </a:p>
          <a:p>
            <a:pPr>
              <a:spcAft>
                <a:spcPts val="400"/>
              </a:spcAft>
            </a:pPr>
            <a:r>
              <a:rPr lang="pt-BR" sz="1200">
                <a:solidFill>
                  <a:srgbClr val="475569"/>
                </a:solidFill>
                <a:latin typeface="Arimo"/>
              </a:rPr>
              <a:t>3. Problema e evidências — 1,5 min</a:t>
            </a:r>
          </a:p>
          <a:p>
            <a:pPr>
              <a:spcAft>
                <a:spcPts val="400"/>
              </a:spcAft>
            </a:pPr>
            <a:r>
              <a:rPr lang="pt-BR" sz="1200">
                <a:solidFill>
                  <a:srgbClr val="475569"/>
                </a:solidFill>
                <a:latin typeface="Arimo"/>
              </a:rPr>
              <a:t>4. Solução proposta — 1,5 min</a:t>
            </a:r>
          </a:p>
          <a:p>
            <a:pPr>
              <a:spcAft>
                <a:spcPts val="400"/>
              </a:spcAft>
            </a:pPr>
            <a:r>
              <a:rPr lang="pt-BR" sz="1200">
                <a:solidFill>
                  <a:srgbClr val="475569"/>
                </a:solidFill>
                <a:latin typeface="Arimo"/>
              </a:rPr>
              <a:t>5. Benefícios e indicadores de sucesso — 1,5 min</a:t>
            </a:r>
          </a:p>
          <a:p>
            <a:pPr>
              <a:spcAft>
                <a:spcPts val="400"/>
              </a:spcAft>
            </a:pPr>
            <a:r>
              <a:rPr lang="pt-BR" sz="1200">
                <a:solidFill>
                  <a:srgbClr val="475569"/>
                </a:solidFill>
                <a:latin typeface="Arimo"/>
              </a:rPr>
              <a:t>6. Investimento, retorno e prazo — 2 min</a:t>
            </a:r>
          </a:p>
          <a:p>
            <a:pPr>
              <a:spcAft>
                <a:spcPts val="400"/>
              </a:spcAft>
            </a:pPr>
            <a:r>
              <a:rPr lang="pt-BR" sz="1200">
                <a:solidFill>
                  <a:srgbClr val="475569"/>
                </a:solidFill>
                <a:latin typeface="Arimo"/>
              </a:rPr>
              <a:t>7. Riscos, dependências e status — 1 min</a:t>
            </a:r>
          </a:p>
          <a:p>
            <a:pPr>
              <a:spcAft>
                <a:spcPts val="400"/>
              </a:spcAft>
            </a:pPr>
            <a:r>
              <a:rPr lang="pt-BR" sz="1200">
                <a:solidFill>
                  <a:srgbClr val="475569"/>
                </a:solidFill>
                <a:latin typeface="Arimo"/>
              </a:rPr>
              <a:t>8. Decisão solicitada e próximos passos — 1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514600"/>
            <a:ext cx="539496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C3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44768" y="2651760"/>
            <a:ext cx="5175504" cy="301752"/>
          </a:xfrm>
          <a:prstGeom prst="roundRect">
            <a:avLst>
              <a:gd name="adj" fmla="val 8000"/>
            </a:avLst>
          </a:prstGeom>
          <a:solidFill>
            <a:srgbClr val="2C3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>
                <a:solidFill>
                  <a:srgbClr val="FFFFFF"/>
                </a:solidFill>
                <a:latin typeface="Trocchi"/>
              </a:rPr>
              <a:t>Como manter o tempo</a:t>
            </a:r>
            <a:endParaRPr sz="1400">
              <a:solidFill>
                <a:srgbClr val="FFFFFF"/>
              </a:solidFill>
              <a:latin typeface="Trocch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36207" y="3154680"/>
            <a:ext cx="50292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475569"/>
                </a:solidFill>
                <a:latin typeface="Arimo"/>
              </a:rPr>
              <a:t>•  Uma mensagem por slide: se precisa de duas, são dois slides.</a:t>
            </a:r>
          </a:p>
          <a:p>
            <a:pPr>
              <a:spcAft>
                <a:spcPts val="400"/>
              </a:spcAft>
            </a:pPr>
            <a:r>
              <a:rPr lang="pt-BR" sz="1200">
                <a:solidFill>
                  <a:srgbClr val="475569"/>
                </a:solidFill>
                <a:latin typeface="Arimo"/>
              </a:rPr>
              <a:t>•  Ensaie em voz alta; se passar de 10 min, corte conteúdo, não acelere a fala.</a:t>
            </a:r>
          </a:p>
          <a:p>
            <a:pPr>
              <a:spcAft>
                <a:spcPts val="400"/>
              </a:spcAft>
            </a:pPr>
            <a:r>
              <a:rPr lang="pt-BR" sz="1200">
                <a:solidFill>
                  <a:srgbClr val="475569"/>
                </a:solidFill>
                <a:latin typeface="Arimo"/>
              </a:rPr>
              <a:t>•  Leve detalhes técnicos, orçamento aberto e cronograma como anexos de apoio.</a:t>
            </a:r>
          </a:p>
          <a:p>
            <a:pPr>
              <a:spcAft>
                <a:spcPts val="400"/>
              </a:spcAft>
            </a:pPr>
            <a:r>
              <a:rPr lang="pt-BR" sz="1200">
                <a:solidFill>
                  <a:srgbClr val="475569"/>
                </a:solidFill>
                <a:latin typeface="Arimo"/>
              </a:rPr>
              <a:t>•  Reserve o tempo restante para perguntas — é nele que a decisão acontece.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897880"/>
            <a:ext cx="10607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00" b="1" i="0">
                <a:solidFill>
                  <a:srgbClr val="1A2744"/>
                </a:solidFill>
                <a:latin typeface="Aptos Display"/>
              </a:rPr>
              <a:t>Regra prática: 10 minutos de fala, 8 slides de conteúdo e todo o resto em anexo.</a:t>
            </a:r>
          </a:p>
        </p:txBody>
      </p:sp>
      <p:pic>
        <p:nvPicPr>
          <p:cNvPr id="15" name="Logo Claro">
            <a:extLst>
              <a:ext uri="{FF2B5EF4-FFF2-40B4-BE49-F238E27FC236}">
                <a16:creationId xmlns:a16="http://schemas.microsoft.com/office/drawing/2014/main" id="{5CEDDB3A-AFD2-8BBF-EEE6-6B0E33494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9636" y="5822376"/>
            <a:ext cx="945102" cy="85285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4360" y="310896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C00000"/>
                </a:solidFill>
                <a:latin typeface="Aptos"/>
              </a:rPr>
              <a:t>TEMPO DE APRESENTAÇÃO</a:t>
            </a:r>
          </a:p>
        </p:txBody>
      </p:sp>
      <p:sp>
        <p:nvSpPr>
          <p:cNvPr id="53" name="Shape 51"/>
          <p:cNvSpPr/>
          <p:nvPr/>
        </p:nvSpPr>
        <p:spPr>
          <a:xfrm>
            <a:off x="594360" y="5687568"/>
            <a:ext cx="110185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4" name="Picture 53" descr="icon-list-72e5ee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2702052"/>
            <a:ext cx="192024" cy="192024"/>
          </a:xfrm>
          <a:prstGeom prst="rect">
            <a:avLst/>
          </a:prstGeom>
        </p:spPr>
      </p:pic>
      <p:pic>
        <p:nvPicPr>
          <p:cNvPr id="55" name="Picture 54" descr="icon-clock-b2f11e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2702052"/>
            <a:ext cx="192024" cy="1920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658368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>
                <a:solidFill>
                  <a:srgbClr val="0E2841"/>
                </a:solidFill>
                <a:latin typeface="Aptos Display"/>
              </a:rPr>
              <a:t>Criatividade: o roteiro é uma proposta, não uma regra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8872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00" b="0" i="0">
                <a:solidFill>
                  <a:srgbClr val="475569"/>
                </a:solidFill>
                <a:latin typeface="Aptos"/>
              </a:rPr>
              <a:t>A ordem pode mudar — a lógica, não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420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475569"/>
                </a:solidFill>
                <a:latin typeface="Arimo"/>
              </a:rPr>
              <a:t>Você pode inverter a sequência conforme o público e o momento. O que não muda é a necessidade de uma linha lógica em que cada slide prepare o próximo e o público consiga acompanhar sem esforço.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256946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dirty="0">
                <a:solidFill>
                  <a:srgbClr val="1A2744"/>
                </a:solidFill>
                <a:latin typeface="Aptos Display"/>
              </a:rPr>
              <a:t>Rota </a:t>
            </a:r>
            <a:r>
              <a:rPr sz="1400" b="1" i="0" dirty="0" err="1">
                <a:solidFill>
                  <a:srgbClr val="1A2744"/>
                </a:solidFill>
                <a:latin typeface="Aptos Display"/>
              </a:rPr>
              <a:t>clássica</a:t>
            </a:r>
            <a:endParaRPr sz="1400" b="1" i="0" dirty="0">
              <a:solidFill>
                <a:srgbClr val="1A2744"/>
              </a:solidFill>
              <a:latin typeface="Aptos Display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11880" y="2587752"/>
            <a:ext cx="1417320" cy="566928"/>
          </a:xfrm>
          <a:prstGeom prst="roundRect">
            <a:avLst>
              <a:gd name="adj" fmla="val 18000"/>
            </a:avLst>
          </a:prstGeom>
          <a:solidFill>
            <a:srgbClr val="EEF1F7"/>
          </a:solidFill>
          <a:ln w="9525">
            <a:solidFill>
              <a:srgbClr val="C8D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50" b="1">
                <a:solidFill>
                  <a:srgbClr val="1A2744"/>
                </a:solidFill>
                <a:latin typeface="Arimo"/>
              </a:rPr>
              <a:t>Contexto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056632" y="2807208"/>
            <a:ext cx="201168" cy="128016"/>
          </a:xfrm>
          <a:prstGeom prst="rightArrow">
            <a:avLst/>
          </a:prstGeom>
          <a:solidFill>
            <a:srgbClr val="9AA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230368" y="2587752"/>
            <a:ext cx="1417320" cy="566928"/>
          </a:xfrm>
          <a:prstGeom prst="roundRect">
            <a:avLst>
              <a:gd name="adj" fmla="val 18000"/>
            </a:avLst>
          </a:prstGeom>
          <a:solidFill>
            <a:srgbClr val="EEF1F7"/>
          </a:solidFill>
          <a:ln w="9525">
            <a:solidFill>
              <a:srgbClr val="C8D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50" b="1">
                <a:solidFill>
                  <a:srgbClr val="1A2744"/>
                </a:solidFill>
                <a:latin typeface="Arimo"/>
              </a:rPr>
              <a:t>Problema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675120" y="2807208"/>
            <a:ext cx="201168" cy="128016"/>
          </a:xfrm>
          <a:prstGeom prst="rightArrow">
            <a:avLst/>
          </a:prstGeom>
          <a:solidFill>
            <a:srgbClr val="9AA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48856" y="2587752"/>
            <a:ext cx="1417320" cy="566928"/>
          </a:xfrm>
          <a:prstGeom prst="roundRect">
            <a:avLst>
              <a:gd name="adj" fmla="val 18000"/>
            </a:avLst>
          </a:prstGeom>
          <a:solidFill>
            <a:srgbClr val="EEF1F7"/>
          </a:solidFill>
          <a:ln w="9525">
            <a:solidFill>
              <a:srgbClr val="C8D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50" b="1">
                <a:solidFill>
                  <a:srgbClr val="1A2744"/>
                </a:solidFill>
                <a:latin typeface="Arimo"/>
              </a:rPr>
              <a:t>Solução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293608" y="2807208"/>
            <a:ext cx="201168" cy="128016"/>
          </a:xfrm>
          <a:prstGeom prst="rightArrow">
            <a:avLst/>
          </a:prstGeom>
          <a:solidFill>
            <a:srgbClr val="9AA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467344" y="2587752"/>
            <a:ext cx="1417320" cy="566928"/>
          </a:xfrm>
          <a:prstGeom prst="roundRect">
            <a:avLst>
              <a:gd name="adj" fmla="val 18000"/>
            </a:avLst>
          </a:prstGeom>
          <a:solidFill>
            <a:srgbClr val="EEF1F7"/>
          </a:solidFill>
          <a:ln w="9525">
            <a:solidFill>
              <a:srgbClr val="C8D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50" b="1">
                <a:solidFill>
                  <a:srgbClr val="1A2744"/>
                </a:solidFill>
                <a:latin typeface="Arimo"/>
              </a:rPr>
              <a:t>Resultados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912096" y="2807208"/>
            <a:ext cx="201168" cy="128016"/>
          </a:xfrm>
          <a:prstGeom prst="rightArrow">
            <a:avLst/>
          </a:prstGeom>
          <a:solidFill>
            <a:srgbClr val="9AA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85832" y="2587752"/>
            <a:ext cx="1417320" cy="566928"/>
          </a:xfrm>
          <a:prstGeom prst="roundRect">
            <a:avLst>
              <a:gd name="adj" fmla="val 18000"/>
            </a:avLst>
          </a:prstGeom>
          <a:solidFill>
            <a:srgbClr val="EEF1F7"/>
          </a:solidFill>
          <a:ln w="9525">
            <a:solidFill>
              <a:srgbClr val="C8D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50" b="1">
                <a:solidFill>
                  <a:srgbClr val="1A2744"/>
                </a:solidFill>
                <a:latin typeface="Arimo"/>
              </a:rPr>
              <a:t>Decisão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3849624"/>
            <a:ext cx="3017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i="0">
                <a:solidFill>
                  <a:srgbClr val="1A2744"/>
                </a:solidFill>
                <a:latin typeface="Aptos Display"/>
              </a:rPr>
              <a:t>Rota do </a:t>
            </a:r>
            <a:r>
              <a:rPr lang="pt-BR" sz="1400" b="1" i="0" err="1">
                <a:solidFill>
                  <a:srgbClr val="1A2744"/>
                </a:solidFill>
                <a:latin typeface="Aptos Display"/>
              </a:rPr>
              <a:t>resultado</a:t>
            </a:r>
            <a:endParaRPr sz="1400" b="1" i="0" dirty="0">
              <a:solidFill>
                <a:srgbClr val="C00000"/>
              </a:solidFill>
              <a:latin typeface="Aptos Display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611880" y="3867912"/>
            <a:ext cx="1417320" cy="566928"/>
          </a:xfrm>
          <a:prstGeom prst="roundRect">
            <a:avLst>
              <a:gd name="adj" fmla="val 18000"/>
            </a:avLst>
          </a:prstGeom>
          <a:solidFill>
            <a:srgbClr val="2C3E80"/>
          </a:solidFill>
          <a:ln w="9525">
            <a:solidFill>
              <a:srgbClr val="2C3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lang="pt-BR" sz="1150" b="1">
                <a:solidFill>
                  <a:srgbClr val="FFFFFF"/>
                </a:solidFill>
                <a:latin typeface="Arimo"/>
              </a:rPr>
              <a:t>Contexto</a:t>
            </a:r>
            <a:endParaRPr sz="1150" b="1">
              <a:solidFill>
                <a:srgbClr val="FFFFFF"/>
              </a:solidFill>
              <a:latin typeface="Arimo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5056632" y="4087368"/>
            <a:ext cx="201168" cy="128016"/>
          </a:xfrm>
          <a:prstGeom prst="rightArrow">
            <a:avLst/>
          </a:prstGeom>
          <a:solidFill>
            <a:srgbClr val="9AA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230368" y="3867912"/>
            <a:ext cx="1417320" cy="566928"/>
          </a:xfrm>
          <a:prstGeom prst="roundRect">
            <a:avLst>
              <a:gd name="adj" fmla="val 18000"/>
            </a:avLst>
          </a:prstGeom>
          <a:solidFill>
            <a:srgbClr val="2C3E80"/>
          </a:solidFill>
          <a:ln w="9525">
            <a:solidFill>
              <a:srgbClr val="2C3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lang="pt-BR" sz="1150" b="1">
                <a:solidFill>
                  <a:srgbClr val="FFFFFF"/>
                </a:solidFill>
                <a:latin typeface="Arimo"/>
              </a:rPr>
              <a:t>Resultado</a:t>
            </a:r>
            <a:endParaRPr sz="1150" b="1">
              <a:solidFill>
                <a:srgbClr val="FFFFFF"/>
              </a:solidFill>
              <a:latin typeface="Arimo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6675120" y="4087368"/>
            <a:ext cx="201168" cy="128016"/>
          </a:xfrm>
          <a:prstGeom prst="rightArrow">
            <a:avLst/>
          </a:prstGeom>
          <a:solidFill>
            <a:srgbClr val="9AA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848856" y="3867912"/>
            <a:ext cx="1417320" cy="566928"/>
          </a:xfrm>
          <a:prstGeom prst="roundRect">
            <a:avLst>
              <a:gd name="adj" fmla="val 18000"/>
            </a:avLst>
          </a:prstGeom>
          <a:solidFill>
            <a:srgbClr val="2C3E80"/>
          </a:solidFill>
          <a:ln w="9525">
            <a:solidFill>
              <a:srgbClr val="2C3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mo"/>
              </a:rPr>
              <a:t>Problema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293608" y="4087368"/>
            <a:ext cx="201168" cy="128016"/>
          </a:xfrm>
          <a:prstGeom prst="rightArrow">
            <a:avLst/>
          </a:prstGeom>
          <a:solidFill>
            <a:srgbClr val="9AA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467344" y="3867912"/>
            <a:ext cx="1417320" cy="566928"/>
          </a:xfrm>
          <a:prstGeom prst="roundRect">
            <a:avLst>
              <a:gd name="adj" fmla="val 18000"/>
            </a:avLst>
          </a:prstGeom>
          <a:solidFill>
            <a:srgbClr val="2C3E80"/>
          </a:solidFill>
          <a:ln w="9525">
            <a:solidFill>
              <a:srgbClr val="2C3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mo"/>
              </a:rPr>
              <a:t>Solução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912096" y="4087368"/>
            <a:ext cx="201168" cy="128016"/>
          </a:xfrm>
          <a:prstGeom prst="rightArrow">
            <a:avLst/>
          </a:prstGeom>
          <a:solidFill>
            <a:srgbClr val="9AA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085832" y="3867912"/>
            <a:ext cx="1417320" cy="566928"/>
          </a:xfrm>
          <a:prstGeom prst="roundRect">
            <a:avLst>
              <a:gd name="adj" fmla="val 18000"/>
            </a:avLst>
          </a:prstGeom>
          <a:solidFill>
            <a:srgbClr val="2C3E80"/>
          </a:solidFill>
          <a:ln w="9525">
            <a:solidFill>
              <a:srgbClr val="2C3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mo"/>
              </a:rPr>
              <a:t>Decisão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4983480"/>
            <a:ext cx="10972800" cy="868680"/>
          </a:xfrm>
          <a:prstGeom prst="roundRect">
            <a:avLst>
              <a:gd name="adj" fmla="val 12000"/>
            </a:avLst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320040" rtlCol="0" anchor="ctr"/>
          <a:lstStyle/>
          <a:p>
            <a:pPr algn="l"/>
            <a:r>
              <a:rPr lang="pt-BR" sz="1600" b="1">
                <a:solidFill>
                  <a:srgbClr val="FFFFFF"/>
                </a:solidFill>
                <a:latin typeface="Aptos Display"/>
              </a:rPr>
              <a:t>Use sua criatividade. </a:t>
            </a:r>
            <a:r>
              <a:rPr lang="pt-BR" sz="1400">
                <a:solidFill>
                  <a:srgbClr val="DCE3F2"/>
                </a:solidFill>
                <a:latin typeface="Arimo"/>
              </a:rPr>
              <a:t>Abra com um dado forte, comece pela pergunta do cliente — desde que a sequência conduza o público do que ele já sabe até o que você quer que ele decida.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224" y="5824728"/>
            <a:ext cx="941832" cy="85039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84632" y="2825495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75569"/>
                </a:solidFill>
                <a:latin typeface="Arimo"/>
              </a:rPr>
              <a:t>público ainda novo no tema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" y="410565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75569"/>
                </a:solidFill>
                <a:latin typeface="Arimo"/>
              </a:rPr>
              <a:t>público executivo, tempo curto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310896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C00000"/>
                </a:solidFill>
                <a:latin typeface="Aptos"/>
              </a:rPr>
              <a:t>FORMATO E CRIATIVIDADE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C00000"/>
                </a:solidFill>
                <a:latin typeface="Aptos"/>
              </a:rPr>
              <a:t>AGORA É COM VOCÊ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0584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E2841"/>
                </a:solidFill>
                <a:latin typeface="Aptos Display"/>
              </a:rPr>
              <a:t>Use este roteiro na sua próxima apresentação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Três passos para começar hoje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ptos"/>
              </a:rPr>
              <a:t>Este material é um guia, não um modelo obrigatório: adapte ao seu projeto, ao seu público e ao tempo que você 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345643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2834640"/>
            <a:ext cx="384048" cy="384048"/>
          </a:xfrm>
          <a:prstGeom prst="ellipse">
            <a:avLst/>
          </a:prstGeom>
          <a:solidFill>
            <a:srgbClr val="2C3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649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841"/>
                </a:solidFill>
                <a:latin typeface="Aptos Display"/>
              </a:rPr>
              <a:t>Escreva a história antes dos slides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75887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Aptos"/>
              </a:rPr>
              <a:t>Em cinco frases: contexto, problema, solução, resultados e a decisão que você precisa.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3672" y="2606040"/>
            <a:ext cx="345643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07992" y="2834640"/>
            <a:ext cx="384048" cy="384048"/>
          </a:xfrm>
          <a:prstGeom prst="ellipse">
            <a:avLst/>
          </a:prstGeom>
          <a:solidFill>
            <a:srgbClr val="2C3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33649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841"/>
                </a:solidFill>
                <a:latin typeface="Aptos Display"/>
              </a:rPr>
              <a:t>Monte os 8 slides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3675887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Aptos"/>
              </a:rPr>
              <a:t>Use os elementos sugeridos e deixe o detalhamento em anexos de apoio.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2983" y="2606040"/>
            <a:ext cx="345643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8147304" y="2834640"/>
            <a:ext cx="384048" cy="384048"/>
          </a:xfrm>
          <a:prstGeom prst="ellipse">
            <a:avLst/>
          </a:prstGeom>
          <a:solidFill>
            <a:srgbClr val="2C3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7304" y="33649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841"/>
                </a:solidFill>
                <a:latin typeface="Aptos Display"/>
              </a:rPr>
              <a:t>Ensaie e cronometre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3675887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Aptos"/>
              </a:rPr>
              <a:t>Dez minutos de fala. Se passar, corte conteúdo — não acelere.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800600"/>
            <a:ext cx="10881360" cy="777240"/>
          </a:xfrm>
          <a:prstGeom prst="roundRect">
            <a:avLst>
              <a:gd name="adj" fmla="val 12000"/>
            </a:avLst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320040" rtlCol="0" anchor="ctr"/>
          <a:lstStyle/>
          <a:p>
            <a:pPr algn="ctr"/>
            <a:r>
              <a:rPr lang="pt-BR" sz="1500" b="1" noProof="0" dirty="0">
                <a:solidFill>
                  <a:srgbClr val="FFFFFF"/>
                </a:solidFill>
                <a:latin typeface="Aptos Display"/>
              </a:rPr>
              <a:t>Dúvidas ou quer validar seu roteiro? </a:t>
            </a:r>
            <a:r>
              <a:rPr lang="pt-BR" sz="1300" noProof="0" dirty="0">
                <a:solidFill>
                  <a:srgbClr val="DCE3F2"/>
                </a:solidFill>
                <a:latin typeface="Aptos"/>
              </a:rPr>
              <a:t>Chame a equipe de Projetos antes de montar os slides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224" y="5824728"/>
            <a:ext cx="941832" cy="85039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94360" y="5687568"/>
            <a:ext cx="11018520" cy="279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58338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E2841"/>
                </a:solidFill>
                <a:latin typeface="Aptos"/>
              </a:rPr>
              <a:t>Comece pela história. O resto da apresentação fica muito mais fácil.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1491</Words>
  <Application>Microsoft Office PowerPoint</Application>
  <PresentationFormat>Widescreen</PresentationFormat>
  <Paragraphs>192</Paragraphs>
  <Slides>9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8" baseType="lpstr">
      <vt:lpstr>Abril Fatface</vt:lpstr>
      <vt:lpstr>Aptos</vt:lpstr>
      <vt:lpstr>Aptos Display</vt:lpstr>
      <vt:lpstr>Arial</vt:lpstr>
      <vt:lpstr>Arial Nova</vt:lpstr>
      <vt:lpstr>Arimo</vt:lpstr>
      <vt:lpstr>Calibri</vt:lpstr>
      <vt:lpstr>Trocchi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MARCELO JOSE ESPINDOLA</dc:creator>
  <cp:lastModifiedBy>Rafael Cardoso</cp:lastModifiedBy>
  <cp:revision>3</cp:revision>
  <dcterms:created xsi:type="dcterms:W3CDTF">2026-10-01T19:18:34Z</dcterms:created>
  <dcterms:modified xsi:type="dcterms:W3CDTF">2026-10-05T23:11:27Z</dcterms:modified>
</cp:coreProperties>
</file>